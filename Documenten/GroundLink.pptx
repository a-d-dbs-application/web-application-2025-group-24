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7" r:id="rId1"/>
  </p:sldMasterIdLst>
  <p:notesMasterIdLst>
    <p:notesMasterId r:id="rId18"/>
  </p:notesMasterIdLst>
  <p:sldIdLst>
    <p:sldId id="268" r:id="rId2"/>
    <p:sldId id="257" r:id="rId3"/>
    <p:sldId id="269" r:id="rId4"/>
    <p:sldId id="270" r:id="rId5"/>
    <p:sldId id="258" r:id="rId6"/>
    <p:sldId id="267" r:id="rId7"/>
    <p:sldId id="272" r:id="rId8"/>
    <p:sldId id="273" r:id="rId9"/>
    <p:sldId id="259" r:id="rId10"/>
    <p:sldId id="266" r:id="rId11"/>
    <p:sldId id="263" r:id="rId12"/>
    <p:sldId id="265" r:id="rId13"/>
    <p:sldId id="261" r:id="rId14"/>
    <p:sldId id="264" r:id="rId15"/>
    <p:sldId id="275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D91"/>
    <a:srgbClr val="184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09"/>
    <p:restoredTop sz="77015"/>
  </p:normalViewPr>
  <p:slideViewPr>
    <p:cSldViewPr>
      <p:cViewPr varScale="1">
        <p:scale>
          <a:sx n="70" d="100"/>
          <a:sy n="70" d="100"/>
        </p:scale>
        <p:origin x="1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E7779-ADFD-0142-9380-FE106EC3D6DC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EED7E-21A8-174A-A4F9-B69B6085679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350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EED7E-21A8-174A-A4F9-B69B6085679D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0821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779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4476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4567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4794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392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5150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07244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3815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9304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8132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43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399D2-0876-F549-B1B4-16DD954EB771}" type="datetimeFigureOut">
              <a:rPr lang="nl-BE" smtClean="0"/>
              <a:t>16/12/2025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631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youtube.com/watch?v=5l8xzvWOSD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roup-24-4myd.onrender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A6B3D-D831-BA5D-13A4-F76E7C99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nl-BE" sz="7200" dirty="0">
                <a:solidFill>
                  <a:schemeClr val="bg1"/>
                </a:solidFill>
              </a:rPr>
              <a:t>Oral defence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4D5E689-AED8-C09A-6D7B-D78D260C8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240" y="6021360"/>
            <a:ext cx="10515600" cy="515652"/>
          </a:xfrm>
        </p:spPr>
        <p:txBody>
          <a:bodyPr/>
          <a:lstStyle/>
          <a:p>
            <a:r>
              <a:rPr lang="nl-BE" sz="1800" dirty="0">
                <a:solidFill>
                  <a:schemeClr val="bg1"/>
                </a:solidFill>
              </a:rPr>
              <a:t>January 30, 2026</a:t>
            </a:r>
            <a:endParaRPr lang="nl-B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FADC503-4651-C3F2-C4B4-67D03896C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474" y="4893637"/>
            <a:ext cx="2483526" cy="1988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9145F6FC-DF2C-3544-0C3A-58BCEF8D5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44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18DD23-E098-869E-FB19-13B13C60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70" y="804555"/>
            <a:ext cx="10299570" cy="933426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Team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52E0159-BE88-7329-458E-21F89D653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17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>
                <a:solidFill>
                  <a:schemeClr val="bg1"/>
                </a:solidFill>
              </a:rPr>
              <a:t>We are:</a:t>
            </a:r>
          </a:p>
          <a:p>
            <a:r>
              <a:rPr lang="nl-BE" sz="2000" dirty="0">
                <a:solidFill>
                  <a:schemeClr val="bg1"/>
                </a:solidFill>
              </a:rPr>
              <a:t>Lili Maryns</a:t>
            </a:r>
          </a:p>
          <a:p>
            <a:r>
              <a:rPr lang="nl-BE" sz="2000" dirty="0">
                <a:solidFill>
                  <a:schemeClr val="bg1"/>
                </a:solidFill>
              </a:rPr>
              <a:t>Wout Cardoen</a:t>
            </a:r>
          </a:p>
          <a:p>
            <a:r>
              <a:rPr lang="nl-BE" sz="2000" dirty="0">
                <a:solidFill>
                  <a:schemeClr val="bg1"/>
                </a:solidFill>
              </a:rPr>
              <a:t>Maxime Jolie</a:t>
            </a:r>
          </a:p>
          <a:p>
            <a:r>
              <a:rPr lang="nl-BE" sz="2000" dirty="0">
                <a:solidFill>
                  <a:schemeClr val="bg1"/>
                </a:solidFill>
              </a:rPr>
              <a:t>Pierre-Yves Morreau</a:t>
            </a:r>
          </a:p>
          <a:p>
            <a:r>
              <a:rPr lang="nl-BE" sz="2000" dirty="0">
                <a:solidFill>
                  <a:schemeClr val="bg1"/>
                </a:solidFill>
              </a:rPr>
              <a:t>Amber Verschelden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09ECC001-6B92-8C26-CDA9-61ACA6C76D75}"/>
              </a:ext>
            </a:extLst>
          </p:cNvPr>
          <p:cNvSpPr txBox="1"/>
          <p:nvPr/>
        </p:nvSpPr>
        <p:spPr>
          <a:xfrm>
            <a:off x="5853963" y="1822156"/>
            <a:ext cx="6312030" cy="231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800" dirty="0">
                <a:solidFill>
                  <a:schemeClr val="bg1"/>
                </a:solidFill>
              </a:rPr>
              <a:t>External partner: Ledoux Media </a:t>
            </a:r>
          </a:p>
          <a:p>
            <a:pPr marL="457200" indent="-457200">
              <a:spcBef>
                <a:spcPts val="1000"/>
              </a:spcBef>
              <a:buFont typeface="Wingdings" pitchFamily="2" charset="2"/>
              <a:buChar char="à"/>
            </a:pPr>
            <a:r>
              <a:rPr lang="nl-BE" sz="2000" dirty="0">
                <a:solidFill>
                  <a:schemeClr val="bg1"/>
                </a:solidFill>
                <a:sym typeface="Wingdings" pitchFamily="2" charset="2"/>
              </a:rPr>
              <a:t>Marketing for </a:t>
            </a:r>
            <a:r>
              <a:rPr lang="nl-BE" sz="2000" dirty="0">
                <a:solidFill>
                  <a:schemeClr val="bg1"/>
                </a:solidFill>
              </a:rPr>
              <a:t>Real estate developer</a:t>
            </a:r>
            <a:endParaRPr lang="nl-BE" sz="2000" dirty="0">
              <a:solidFill>
                <a:schemeClr val="bg1"/>
              </a:solidFill>
              <a:sym typeface="Wingdings" pitchFamily="2" charset="2"/>
            </a:endParaRPr>
          </a:p>
          <a:p>
            <a:pPr marL="457200" indent="-457200">
              <a:spcBef>
                <a:spcPts val="1000"/>
              </a:spcBef>
              <a:buFont typeface="Wingdings" pitchFamily="2" charset="2"/>
              <a:buChar char="à"/>
            </a:pPr>
            <a:r>
              <a:rPr lang="nl-BE" sz="2000" dirty="0">
                <a:solidFill>
                  <a:schemeClr val="bg1"/>
                </a:solidFill>
              </a:rPr>
              <a:t>“Project development accelerator | Launch your real estate projects successfully using the Ledoux marketing &amp; sales methodology. Tested in more than 40+ new construction projects.”</a:t>
            </a:r>
          </a:p>
        </p:txBody>
      </p:sp>
      <p:pic>
        <p:nvPicPr>
          <p:cNvPr id="8" name="Afbeelding 7" descr="Afbeelding met Menselijk gezicht, kleding, persoon, glimlach&#10;&#10;Door AI gegenereerde inhoud is mogelijk onjuist.">
            <a:extLst>
              <a:ext uri="{FF2B5EF4-FFF2-40B4-BE49-F238E27FC236}">
                <a16:creationId xmlns:a16="http://schemas.microsoft.com/office/drawing/2014/main" id="{50D5EDDE-1874-F3D9-CD88-CB287E226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137" y="4139814"/>
            <a:ext cx="3563843" cy="2718185"/>
          </a:xfrm>
          <a:prstGeom prst="rect">
            <a:avLst/>
          </a:prstGeom>
          <a:effectLst>
            <a:softEdge rad="0"/>
          </a:effectLst>
        </p:spPr>
      </p:pic>
      <p:pic>
        <p:nvPicPr>
          <p:cNvPr id="5" name="Afbeelding 4" descr="Afbeelding met Lettertype, logo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C0DA3307-02E0-18C5-242C-DEDD2D324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138" y="4166141"/>
            <a:ext cx="1832742" cy="621096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C0093E08-7384-5B9E-2CF4-8D5F57BAC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3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A3126-5CE8-3AE2-55DD-CF51C33DA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1116518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Problem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BB984-5FF8-E614-DE45-EB3A45A5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Real estate developer: prices too high as soon as land comes online, too much competition.</a:t>
            </a:r>
          </a:p>
          <a:p>
            <a:r>
              <a:rPr lang="nl-BE" dirty="0">
                <a:solidFill>
                  <a:schemeClr val="bg1"/>
                </a:solidFill>
              </a:rPr>
              <a:t>property owners: want discretion, no brokers, do not know value.</a:t>
            </a:r>
          </a:p>
          <a:p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609B642-6836-D0FD-0812-967FE8132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65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F96E4-853F-7346-9C22-D8B48918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0" y="500062"/>
            <a:ext cx="10515600" cy="1325563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Opportunity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4F0CD5-6E8E-5A7F-012C-E999473A5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A digital, discreet match between sellers and developers.</a:t>
            </a:r>
          </a:p>
          <a:p>
            <a:r>
              <a:rPr lang="nl-BE" dirty="0">
                <a:solidFill>
                  <a:schemeClr val="bg1"/>
                </a:solidFill>
              </a:rPr>
              <a:t>Offline behavior already exists, but without an efficient existing online platform.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B2D04C5-5E48-0196-3E9A-AFDCC8DAB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2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4056A7-8C3C-9084-7D8B-C62FA87F8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1130276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The solution: GroundLink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42902EF-8E9D-1A1F-BC2A-2589E1B14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A discreet online platform where property owners can anonymously offer their property and only verified real estate developer have access to these off-market opportunities.</a:t>
            </a:r>
          </a:p>
          <a:p>
            <a:r>
              <a:rPr lang="nl-BE" dirty="0">
                <a:solidFill>
                  <a:schemeClr val="bg1"/>
                </a:solidFill>
              </a:rPr>
              <a:t>Closed platform, anonymous listings, verified developers, private communication.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CA27FCE-93BF-BD5A-559D-7C7EAF52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9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2AB7F6-D9D2-04D2-3A7B-FA63CF7A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MVP userstories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329C947-FC97-9B45-1576-0CC094C2D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DE7E37A-6AF1-28FD-57B5-70FCD739D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3109"/>
            <a:ext cx="11018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>
                <a:solidFill>
                  <a:schemeClr val="bg1"/>
                </a:solidFill>
              </a:rPr>
              <a:t>As a property owner,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anonymously list my land on the platform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explore selling options without my neighbours or family knowing.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set my own asking price and property details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developers have the information they need to evaluate my listing.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receive private messages from verified developers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negotiate safely without sharing personal contact details.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edit or remove my listing at any moment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stay fully in control of my property information.</a:t>
            </a:r>
          </a:p>
          <a:p>
            <a:endParaRPr lang="nl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60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A5ED5-23C7-62EF-63C1-7D5C091C9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MVP userstories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98FB48-7D7D-322D-40D8-68B99A01A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>
                <a:solidFill>
                  <a:schemeClr val="bg1"/>
                </a:solidFill>
              </a:rPr>
              <a:t>As a real estate developer,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log in with a verified professional account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access exclusive off-market land opportunities.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browse a list of available off-market land plots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quickly identify new development opportunities.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filter listings by location, size, and asking price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efficiently find plots that match my development criteria.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contact landowners privately through the platform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negotiate discreetly without intermediaries.</a:t>
            </a:r>
          </a:p>
          <a:p>
            <a:endParaRPr lang="nl-BE" dirty="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897410E-E23B-57F9-291D-9EB2B7ADC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06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6F5FDE-07BC-C1CC-6CDA-39C85EA1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MVP userstories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E2DA545-30E0-6B5A-688E-C463B6BE5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>
                <a:solidFill>
                  <a:schemeClr val="bg1"/>
                </a:solidFill>
              </a:rPr>
              <a:t>As a system admin,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verify developer accounts before granting access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only legitimate professionals can view sensitive listings.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monitor listing activity and messages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ensure the platform remains secure and respectful for all users.</a:t>
            </a:r>
          </a:p>
          <a:p>
            <a:endParaRPr lang="nl-BE" dirty="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C9AD0A5-2B22-5B38-B756-30DFF9F3D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1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91862-A93F-EF14-B85C-A834B45F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The website &amp; its functions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345093-5EEA-A8AA-3B9B-015631066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2570" cy="4351338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Property owners: Post properties, manage them, send private messages.</a:t>
            </a:r>
          </a:p>
          <a:p>
            <a:r>
              <a:rPr lang="nl-BE" dirty="0">
                <a:solidFill>
                  <a:schemeClr val="bg1"/>
                </a:solidFill>
              </a:rPr>
              <a:t>Developers: Verified login, list &amp; filters, discreet contact.</a:t>
            </a:r>
          </a:p>
          <a:p>
            <a:pPr marL="0" indent="0">
              <a:buNone/>
            </a:pPr>
            <a:endParaRPr lang="nl-BE" dirty="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D947B68-CCE0-8635-CEEC-560ED92C5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19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D082BD-FF03-0A80-4C9F-09E05872D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144588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The algorithm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3B2BE59-4FB8-B558-267C-654DCC8FB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>
                <a:solidFill>
                  <a:schemeClr val="bg1"/>
                </a:solidFill>
              </a:rPr>
              <a:t>Price estimation of plots based on previous data (type, surface area, location.)</a:t>
            </a:r>
          </a:p>
          <a:p>
            <a:r>
              <a:rPr lang="nl-BE" dirty="0">
                <a:solidFill>
                  <a:schemeClr val="bg1"/>
                </a:solidFill>
              </a:rPr>
              <a:t>Model learns from sold plots, continuously improves</a:t>
            </a:r>
          </a:p>
          <a:p>
            <a:r>
              <a:rPr lang="nl-BE" dirty="0">
                <a:solidFill>
                  <a:schemeClr val="bg1"/>
                </a:solidFill>
              </a:rPr>
              <a:t>Operation: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BE" altLang="nl-BE" dirty="0">
                <a:solidFill>
                  <a:schemeClr val="bg1"/>
                </a:solidFill>
              </a:rPr>
              <a:t>Identify similar plots:</a:t>
            </a:r>
            <a:br>
              <a:rPr lang="nl-BE" altLang="nl-BE" dirty="0">
                <a:solidFill>
                  <a:schemeClr val="bg1"/>
                </a:solidFill>
              </a:rPr>
            </a:br>
            <a:r>
              <a:rPr lang="nl-BE" altLang="nl-BE" dirty="0">
                <a:solidFill>
                  <a:schemeClr val="bg1"/>
                </a:solidFill>
              </a:rPr>
              <a:t>Finds previously sold plots with a similar type and size, and in the same or nearby location.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BE" altLang="nl-BE" dirty="0">
                <a:solidFill>
                  <a:schemeClr val="bg1"/>
                </a:solidFill>
              </a:rPr>
              <a:t>Select nearest neighbors:</a:t>
            </a:r>
            <a:br>
              <a:rPr lang="nl-BE" altLang="nl-BE" dirty="0">
                <a:solidFill>
                  <a:schemeClr val="bg1"/>
                </a:solidFill>
              </a:rPr>
            </a:br>
            <a:r>
              <a:rPr lang="nl-BE" altLang="nl-BE" dirty="0">
                <a:solidFill>
                  <a:schemeClr val="bg1"/>
                </a:solidFill>
              </a:rPr>
              <a:t>k-NN chooses the k most similar sold plots based on these features.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BE" altLang="nl-BE" dirty="0">
                <a:solidFill>
                  <a:schemeClr val="bg1"/>
                </a:solidFill>
              </a:rPr>
              <a:t>Predict price:</a:t>
            </a:r>
            <a:br>
              <a:rPr lang="nl-BE" altLang="nl-BE" dirty="0">
                <a:solidFill>
                  <a:schemeClr val="bg1"/>
                </a:solidFill>
              </a:rPr>
            </a:br>
            <a:r>
              <a:rPr lang="nl-BE" altLang="nl-BE" dirty="0">
                <a:solidFill>
                  <a:schemeClr val="bg1"/>
                </a:solidFill>
              </a:rPr>
              <a:t>The estimated price is calculated from the sale prices of these neighbors.</a:t>
            </a:r>
          </a:p>
          <a:p>
            <a:pPr marL="457200" lvl="1" indent="0">
              <a:buNone/>
            </a:pPr>
            <a:r>
              <a:rPr lang="nl-BE" altLang="nl-BE" dirty="0">
                <a:solidFill>
                  <a:schemeClr val="bg1"/>
                </a:solidFill>
              </a:rPr>
              <a:t>As new sales enter the dataset, predictions stay up-to-date.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nl-BE" dirty="0">
              <a:solidFill>
                <a:schemeClr val="bg1"/>
              </a:solidFill>
            </a:endParaRPr>
          </a:p>
          <a:p>
            <a:endParaRPr lang="nl-BE" dirty="0">
              <a:solidFill>
                <a:schemeClr val="bg1"/>
              </a:solidFill>
            </a:endParaRPr>
          </a:p>
          <a:p>
            <a:endParaRPr lang="nl-BE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B7712B2-32F3-327B-CA61-C1B854ED7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12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817D8-B09B-5696-ACE5-797FD3062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5CC1F78-153A-80D1-0DAB-63E9A9B8F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https://www.youtube.com/watch?v=5l8xzvWOSDg</a:t>
            </a:r>
            <a:r>
              <a:rPr lang="nl-BE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796C83B-BF01-EA10-35C4-F7B4B5CFC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35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4D9D4-F4E7-346A-0419-B0DD248C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1325563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Best practices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CAECEC-3A6C-280D-1AE5-1B8D7CCF4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829"/>
            <a:ext cx="10515600" cy="3972133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No duplication!</a:t>
            </a:r>
          </a:p>
          <a:p>
            <a:r>
              <a:rPr lang="nl-BE" dirty="0">
                <a:solidFill>
                  <a:schemeClr val="bg1"/>
                </a:solidFill>
              </a:rPr>
              <a:t>Images via buckets</a:t>
            </a:r>
          </a:p>
          <a:p>
            <a:r>
              <a:rPr lang="nl-BE" dirty="0">
                <a:solidFill>
                  <a:schemeClr val="bg1"/>
                </a:solidFill>
              </a:rPr>
              <a:t>Render: </a:t>
            </a:r>
            <a:r>
              <a:rPr lang="nl-BE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https://group-24-4myd.onrender.com/</a:t>
            </a:r>
            <a:r>
              <a:rPr lang="nl-BE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B9189CB-939F-3366-E8A5-934D1989D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5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36AF0-C8D3-5AC4-2489-97CBBB75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ERD Model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190C1DB-52A0-4849-32C5-27583CFB9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7960" y="695323"/>
            <a:ext cx="6384039" cy="6191686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75893CEE-1BD7-C709-835E-A81374BB7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1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FA027-037F-F1A2-8A06-4540FF3E6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Supabase</a:t>
            </a:r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B196EAF3-697F-764F-9718-5D449AE87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7201" y="695324"/>
            <a:ext cx="7074799" cy="6162676"/>
          </a:xfr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2BBB302E-FE31-F037-A34F-463549B2B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50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A74F8-0780-36E4-6B87-AF35C624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Scalability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5BDD04E-F074-6739-7FFF-C8CAD7268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90688"/>
            <a:ext cx="11353800" cy="5167312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Centralised off-market platform for developers</a:t>
            </a:r>
          </a:p>
          <a:p>
            <a:pPr lvl="1">
              <a:lnSpc>
                <a:spcPct val="100000"/>
              </a:lnSpc>
            </a:pPr>
            <a:r>
              <a:rPr lang="nl-BE" sz="2300" dirty="0">
                <a:solidFill>
                  <a:schemeClr val="bg1"/>
                </a:solidFill>
                <a:sym typeface="Wingdings" pitchFamily="2" charset="2"/>
              </a:rPr>
              <a:t>All property information </a:t>
            </a:r>
            <a:r>
              <a:rPr lang="nl-BE" sz="2300" dirty="0">
                <a:solidFill>
                  <a:schemeClr val="bg1"/>
                </a:solidFill>
              </a:rPr>
              <a:t>accessible </a:t>
            </a:r>
            <a:r>
              <a:rPr lang="nl-BE" sz="2300" dirty="0">
                <a:solidFill>
                  <a:schemeClr val="bg1"/>
                </a:solidFill>
                <a:sym typeface="Wingdings" pitchFamily="2" charset="2"/>
              </a:rPr>
              <a:t>on one website</a:t>
            </a:r>
          </a:p>
          <a:p>
            <a:r>
              <a:rPr lang="nl-BE" dirty="0">
                <a:solidFill>
                  <a:schemeClr val="bg1"/>
                </a:solidFill>
                <a:sym typeface="Wingdings" pitchFamily="2" charset="2"/>
              </a:rPr>
              <a:t>Richer property data model</a:t>
            </a:r>
          </a:p>
          <a:p>
            <a:pPr lvl="1">
              <a:lnSpc>
                <a:spcPct val="100000"/>
              </a:lnSpc>
            </a:pPr>
            <a:r>
              <a:rPr lang="nl-BE" sz="2300" dirty="0">
                <a:solidFill>
                  <a:schemeClr val="bg1"/>
                </a:solidFill>
                <a:sym typeface="Wingdings" pitchFamily="2" charset="2"/>
              </a:rPr>
              <a:t>Add structured </a:t>
            </a:r>
            <a:r>
              <a:rPr lang="nl-BE" sz="2300" dirty="0">
                <a:solidFill>
                  <a:schemeClr val="bg1"/>
                </a:solidFill>
              </a:rPr>
              <a:t>attributes</a:t>
            </a:r>
            <a:r>
              <a:rPr lang="nl-BE" sz="2300" dirty="0">
                <a:solidFill>
                  <a:schemeClr val="bg1"/>
                </a:solidFill>
                <a:sym typeface="Wingdings" pitchFamily="2" charset="2"/>
              </a:rPr>
              <a:t> such as building permit, zoning type, allowed density, regulatory constraints </a:t>
            </a:r>
          </a:p>
          <a:p>
            <a:r>
              <a:rPr lang="nl-BE" dirty="0">
                <a:solidFill>
                  <a:schemeClr val="bg1"/>
                </a:solidFill>
              </a:rPr>
              <a:t>Smarter price estimation</a:t>
            </a:r>
          </a:p>
          <a:p>
            <a:pPr lvl="1"/>
            <a:r>
              <a:rPr lang="nl-BE" sz="2300" dirty="0">
                <a:solidFill>
                  <a:schemeClr val="bg1"/>
                </a:solidFill>
              </a:rPr>
              <a:t>Improve the algorithm with more data and parameters as the platform grows</a:t>
            </a:r>
          </a:p>
          <a:p>
            <a:r>
              <a:rPr lang="nl-BE" dirty="0">
                <a:solidFill>
                  <a:schemeClr val="bg1"/>
                </a:solidFill>
              </a:rPr>
              <a:t>Data driven network effects</a:t>
            </a:r>
          </a:p>
          <a:p>
            <a:pPr lvl="1">
              <a:lnSpc>
                <a:spcPct val="100000"/>
              </a:lnSpc>
            </a:pPr>
            <a:r>
              <a:rPr lang="nl-BE" sz="2300" dirty="0">
                <a:solidFill>
                  <a:schemeClr val="bg1"/>
                </a:solidFill>
              </a:rPr>
              <a:t>More listings and transactions continuously improve matching and pricing</a:t>
            </a:r>
          </a:p>
          <a:p>
            <a:r>
              <a:rPr lang="nl-BE" dirty="0">
                <a:solidFill>
                  <a:schemeClr val="bg1"/>
                </a:solidFill>
              </a:rPr>
              <a:t>Geographic expansion</a:t>
            </a:r>
          </a:p>
          <a:p>
            <a:pPr lvl="1"/>
            <a:r>
              <a:rPr lang="nl-BE" sz="2300" dirty="0">
                <a:solidFill>
                  <a:schemeClr val="bg1"/>
                </a:solidFill>
              </a:rPr>
              <a:t>Scalable to new regions and international markets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4919768E-DD2E-A9F0-832B-707643540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0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1A7AC-4DCE-7F64-CA10-BB03A953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58" y="695324"/>
            <a:ext cx="10515600" cy="1325563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E2E309C-6CC7-18DC-5D50-EE46C236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2819"/>
            <a:ext cx="10515600" cy="4044143"/>
          </a:xfrm>
        </p:spPr>
        <p:txBody>
          <a:bodyPr/>
          <a:lstStyle/>
          <a:p>
            <a:endParaRPr lang="nl-BE" dirty="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99EEC98-A0AD-0FF4-71BA-B81129837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7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a">
  <a:themeElements>
    <a:clrScheme name="Office 2013 - 2022 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</TotalTime>
  <Words>655</Words>
  <Application>Microsoft Macintosh PowerPoint</Application>
  <PresentationFormat>Breedbeeld</PresentationFormat>
  <Paragraphs>71</Paragraphs>
  <Slides>16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Courier New</vt:lpstr>
      <vt:lpstr>Wingdings</vt:lpstr>
      <vt:lpstr>Office 2013 - 2022 Thema</vt:lpstr>
      <vt:lpstr>Oral defence</vt:lpstr>
      <vt:lpstr>Team</vt:lpstr>
      <vt:lpstr>Problem</vt:lpstr>
      <vt:lpstr>Opportunity</vt:lpstr>
      <vt:lpstr>The solution: GroundLink</vt:lpstr>
      <vt:lpstr>MVP userstories</vt:lpstr>
      <vt:lpstr>MVP userstories</vt:lpstr>
      <vt:lpstr>MVP userstories</vt:lpstr>
      <vt:lpstr>The website &amp; its functions</vt:lpstr>
      <vt:lpstr>The algorithm</vt:lpstr>
      <vt:lpstr>DEMO</vt:lpstr>
      <vt:lpstr>Best practices</vt:lpstr>
      <vt:lpstr>ERD Model</vt:lpstr>
      <vt:lpstr>Supabase</vt:lpstr>
      <vt:lpstr>Scalability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Amber Verschelden</dc:creator>
  <cp:lastModifiedBy>Amber Verschelden</cp:lastModifiedBy>
  <cp:revision>20</cp:revision>
  <dcterms:created xsi:type="dcterms:W3CDTF">2025-12-09T09:35:56Z</dcterms:created>
  <dcterms:modified xsi:type="dcterms:W3CDTF">2025-12-16T08:55:17Z</dcterms:modified>
</cp:coreProperties>
</file>