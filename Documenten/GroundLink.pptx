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7" r:id="rId1"/>
  </p:sldMasterIdLst>
  <p:notesMasterIdLst>
    <p:notesMasterId r:id="rId23"/>
  </p:notesMasterIdLst>
  <p:sldIdLst>
    <p:sldId id="268" r:id="rId2"/>
    <p:sldId id="257" r:id="rId3"/>
    <p:sldId id="269" r:id="rId4"/>
    <p:sldId id="267" r:id="rId5"/>
    <p:sldId id="272" r:id="rId6"/>
    <p:sldId id="273" r:id="rId7"/>
    <p:sldId id="270" r:id="rId8"/>
    <p:sldId id="258" r:id="rId9"/>
    <p:sldId id="259" r:id="rId10"/>
    <p:sldId id="266" r:id="rId11"/>
    <p:sldId id="263" r:id="rId12"/>
    <p:sldId id="265" r:id="rId13"/>
    <p:sldId id="261" r:id="rId14"/>
    <p:sldId id="264" r:id="rId15"/>
    <p:sldId id="275" r:id="rId16"/>
    <p:sldId id="274" r:id="rId17"/>
    <p:sldId id="280" r:id="rId18"/>
    <p:sldId id="279" r:id="rId19"/>
    <p:sldId id="276" r:id="rId20"/>
    <p:sldId id="277" r:id="rId21"/>
    <p:sldId id="278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3D91"/>
    <a:srgbClr val="184F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645"/>
    <p:restoredTop sz="95593"/>
  </p:normalViewPr>
  <p:slideViewPr>
    <p:cSldViewPr>
      <p:cViewPr>
        <p:scale>
          <a:sx n="91" d="100"/>
          <a:sy n="91" d="100"/>
        </p:scale>
        <p:origin x="48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1E7779-ADFD-0142-9380-FE106EC3D6DC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FEED7E-21A8-174A-A4F9-B69B6085679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3502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FEED7E-21A8-174A-A4F9-B69B608567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0821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799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4766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5672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47942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3928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5150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44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38152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93044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81324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43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D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4399D2-0876-F549-B1B4-16DD954EB771}" type="datetimeFigureOut">
              <a:rPr lang="nl-BE" smtClean="0"/>
              <a:t>18/12/2025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16311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899" r:id="rId2"/>
    <p:sldLayoutId id="2147483900" r:id="rId3"/>
    <p:sldLayoutId id="2147483901" r:id="rId4"/>
    <p:sldLayoutId id="2147483902" r:id="rId5"/>
    <p:sldLayoutId id="2147483903" r:id="rId6"/>
    <p:sldLayoutId id="2147483904" r:id="rId7"/>
    <p:sldLayoutId id="2147483905" r:id="rId8"/>
    <p:sldLayoutId id="2147483906" r:id="rId9"/>
    <p:sldLayoutId id="2147483907" r:id="rId10"/>
    <p:sldLayoutId id="21474839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youtube.com/watch?v=5l8xzvWOSDg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roup-24-4myd.onrender.com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D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DA6B3D-D831-BA5D-13A4-F76E7C99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nl-BE" sz="7200" dirty="0">
                <a:solidFill>
                  <a:schemeClr val="bg1"/>
                </a:solidFill>
              </a:rPr>
              <a:t>Oral defence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4D5E689-AED8-C09A-6D7B-D78D260C8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240" y="6021360"/>
            <a:ext cx="10515600" cy="515652"/>
          </a:xfrm>
        </p:spPr>
        <p:txBody>
          <a:bodyPr/>
          <a:lstStyle/>
          <a:p>
            <a:r>
              <a:rPr lang="nl-BE" sz="1800" dirty="0">
                <a:solidFill>
                  <a:schemeClr val="bg1"/>
                </a:solidFill>
              </a:rPr>
              <a:t>January 30, 2026</a:t>
            </a:r>
            <a:endParaRPr lang="nl-BE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FADC503-4651-C3F2-C4B4-67D03896C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8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8474" y="4893637"/>
            <a:ext cx="2483526" cy="19888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9145F6FC-DF2C-3544-0C3A-58BCEF8D5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44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18DD23-E098-869E-FB19-13B13C6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670" y="804555"/>
            <a:ext cx="10299570" cy="933426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Team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52E0159-BE88-7329-458E-21F89D653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4177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We are:</a:t>
            </a:r>
          </a:p>
          <a:p>
            <a:r>
              <a:rPr lang="nl-BE" sz="2000" dirty="0">
                <a:solidFill>
                  <a:schemeClr val="bg1"/>
                </a:solidFill>
              </a:rPr>
              <a:t>Lili Maryns</a:t>
            </a:r>
          </a:p>
          <a:p>
            <a:r>
              <a:rPr lang="nl-BE" sz="2000" dirty="0">
                <a:solidFill>
                  <a:schemeClr val="bg1"/>
                </a:solidFill>
              </a:rPr>
              <a:t>Wout Cardoen</a:t>
            </a:r>
          </a:p>
          <a:p>
            <a:r>
              <a:rPr lang="nl-BE" sz="2000" dirty="0">
                <a:solidFill>
                  <a:schemeClr val="bg1"/>
                </a:solidFill>
              </a:rPr>
              <a:t>Maxime Jolie</a:t>
            </a:r>
          </a:p>
          <a:p>
            <a:r>
              <a:rPr lang="nl-BE" sz="2000" dirty="0">
                <a:solidFill>
                  <a:schemeClr val="bg1"/>
                </a:solidFill>
              </a:rPr>
              <a:t>Pierre-Yves Morreau</a:t>
            </a:r>
          </a:p>
          <a:p>
            <a:r>
              <a:rPr lang="nl-BE" sz="2000" dirty="0">
                <a:solidFill>
                  <a:schemeClr val="bg1"/>
                </a:solidFill>
              </a:rPr>
              <a:t>Amber Verschelden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09ECC001-6B92-8C26-CDA9-61ACA6C76D75}"/>
              </a:ext>
            </a:extLst>
          </p:cNvPr>
          <p:cNvSpPr txBox="1"/>
          <p:nvPr/>
        </p:nvSpPr>
        <p:spPr>
          <a:xfrm>
            <a:off x="5853963" y="1822156"/>
            <a:ext cx="6312030" cy="2318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800" dirty="0">
                <a:solidFill>
                  <a:schemeClr val="bg1"/>
                </a:solidFill>
              </a:rPr>
              <a:t>External partner: Ledoux Media </a:t>
            </a:r>
          </a:p>
          <a:p>
            <a:pPr marL="457200" indent="-457200">
              <a:spcBef>
                <a:spcPts val="1000"/>
              </a:spcBef>
              <a:buFont typeface="Wingdings" pitchFamily="2" charset="2"/>
              <a:buChar char="à"/>
            </a:pPr>
            <a:r>
              <a:rPr lang="nl-BE" sz="2000" dirty="0">
                <a:solidFill>
                  <a:schemeClr val="bg1"/>
                </a:solidFill>
                <a:sym typeface="Wingdings" pitchFamily="2" charset="2"/>
              </a:rPr>
              <a:t>Marketing for </a:t>
            </a:r>
            <a:r>
              <a:rPr lang="nl-BE" sz="2000" dirty="0">
                <a:solidFill>
                  <a:schemeClr val="bg1"/>
                </a:solidFill>
              </a:rPr>
              <a:t>Real estate developer</a:t>
            </a:r>
            <a:endParaRPr lang="nl-BE" sz="2000" dirty="0">
              <a:solidFill>
                <a:schemeClr val="bg1"/>
              </a:solidFill>
              <a:sym typeface="Wingdings" pitchFamily="2" charset="2"/>
            </a:endParaRPr>
          </a:p>
          <a:p>
            <a:pPr marL="457200" indent="-457200">
              <a:spcBef>
                <a:spcPts val="1000"/>
              </a:spcBef>
              <a:buFont typeface="Wingdings" pitchFamily="2" charset="2"/>
              <a:buChar char="à"/>
            </a:pPr>
            <a:r>
              <a:rPr lang="nl-BE" sz="2000" dirty="0">
                <a:solidFill>
                  <a:schemeClr val="bg1"/>
                </a:solidFill>
              </a:rPr>
              <a:t>“Project development accelerator | Launch your real estate projects successfully using the Ledoux marketing &amp; sales methodology. Tested in more than 40+ new construction projects.”</a:t>
            </a:r>
          </a:p>
        </p:txBody>
      </p:sp>
      <p:pic>
        <p:nvPicPr>
          <p:cNvPr id="8" name="Afbeelding 7" descr="Afbeelding met Menselijk gezicht, kleding, persoon, glimlach&#10;&#10;Door AI gegenereerde inhoud is mogelijk onjuist.">
            <a:extLst>
              <a:ext uri="{FF2B5EF4-FFF2-40B4-BE49-F238E27FC236}">
                <a16:creationId xmlns:a16="http://schemas.microsoft.com/office/drawing/2014/main" id="{50D5EDDE-1874-F3D9-CD88-CB287E226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137" y="4139814"/>
            <a:ext cx="3563843" cy="2718185"/>
          </a:xfrm>
          <a:prstGeom prst="rect">
            <a:avLst/>
          </a:prstGeom>
          <a:effectLst>
            <a:softEdge rad="0"/>
          </a:effectLst>
        </p:spPr>
      </p:pic>
      <p:pic>
        <p:nvPicPr>
          <p:cNvPr id="5" name="Afbeelding 4" descr="Afbeelding met Lettertype, logo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C0DA3307-02E0-18C5-242C-DEDD2D324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138" y="4166141"/>
            <a:ext cx="1832742" cy="621096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C0093E08-7384-5B9E-2CF4-8D5F57BAC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430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8A3126-5CE8-3AE2-55DD-CF51C33DA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1116518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Problem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BB984-5FF8-E614-DE45-EB3A45A5E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Real estate developer: prices too high as soon as land comes online, too much competition.</a:t>
            </a:r>
          </a:p>
          <a:p>
            <a:r>
              <a:rPr lang="nl-BE" dirty="0">
                <a:solidFill>
                  <a:schemeClr val="bg1"/>
                </a:solidFill>
              </a:rPr>
              <a:t>Property owners: want discretion, no brokers, do not know value.</a:t>
            </a:r>
          </a:p>
          <a:p>
            <a:endParaRPr lang="nl-BE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7609B642-6836-D0FD-0812-967FE8132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465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2AB7F6-D9D2-04D2-3A7B-FA63CF7A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MVP userstories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A329C947-FC97-9B45-1576-0CC094C2D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7DE7E37A-6AF1-28FD-57B5-70FCD739D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3109"/>
            <a:ext cx="11018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As a property owner,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anonymously list my land on the platform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explore selling options without my neighbours or family knowing.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set my own asking price and property details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developers have the information they need to evaluate my listing.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receive private messages from verified developers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negotiate safely without sharing personal contact details.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edit or remove my listing at any moment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stay fully in control of my property information.</a:t>
            </a:r>
          </a:p>
          <a:p>
            <a:endParaRPr lang="nl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605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5ED5-23C7-62EF-63C1-7D5C091C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MVP userstories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998FB48-7D7D-322D-40D8-68B99A01A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As a real estate developer,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log in with a verified professional account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access exclusive off-market land opportunities.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browse a list of available off-market land plots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quickly identify new development opportunities.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filter listings by location, size, and asking price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efficiently find plots that match my development criteria.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contact landowners privately through the platform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negotiate discreetly without intermediaries.</a:t>
            </a:r>
          </a:p>
          <a:p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D897410E-E23B-57F9-291D-9EB2B7ADC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106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6F5FDE-07BC-C1CC-6CDA-39C85EA11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MVP userstories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E2DA545-30E0-6B5A-688E-C463B6BE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As a system admin,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verify developer accounts before granting access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only legitimate professionals can view sensitive listings.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monitor listing activity and messages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ensure the platform remains secure and respectful for all users.</a:t>
            </a:r>
          </a:p>
          <a:p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EC9AD0A5-2B22-5B38-B756-30DFF9F3D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616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CF96E4-853F-7346-9C22-D8B489181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0" y="500062"/>
            <a:ext cx="10515600" cy="1325563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Opportunity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4F0CD5-6E8E-5A7F-012C-E999473A58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A digital, discreet match between sellers and developers.</a:t>
            </a:r>
          </a:p>
          <a:p>
            <a:r>
              <a:rPr lang="nl-BE" dirty="0">
                <a:solidFill>
                  <a:schemeClr val="bg1"/>
                </a:solidFill>
              </a:rPr>
              <a:t>Offline behavior already exists, but without an efficient existing online platform.</a:t>
            </a:r>
            <a:endParaRPr lang="nl-BE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0B2D04C5-5E48-0196-3E9A-AFDCC8DAB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626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4056A7-8C3C-9084-7D8B-C62FA87F8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1130276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The solution: GroundLink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2902EF-8E9D-1A1F-BC2A-2589E1B14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A discreet online platform where property owners can anonymously offer their property and only verified real estate developer have access to these off-market opportunities.</a:t>
            </a:r>
          </a:p>
          <a:p>
            <a:r>
              <a:rPr lang="nl-BE" dirty="0">
                <a:solidFill>
                  <a:schemeClr val="bg1"/>
                </a:solidFill>
              </a:rPr>
              <a:t>Closed platform, anonymous listings, verified developers, private communication.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BCA27FCE-93BF-BD5A-559D-7C7EAF520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493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291862-A93F-EF14-B85C-A834B45F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The website &amp; its functions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5345093-5EEA-A8AA-3B9B-015631066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02570" cy="4351338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Property owners: Post properties, manage them, check developer interest.</a:t>
            </a:r>
          </a:p>
          <a:p>
            <a:r>
              <a:rPr lang="nl-BE" dirty="0">
                <a:solidFill>
                  <a:schemeClr val="bg1"/>
                </a:solidFill>
              </a:rPr>
              <a:t>Developers: Verified login, list &amp; filters, discreet contact.</a:t>
            </a:r>
          </a:p>
          <a:p>
            <a:pPr marL="0" indent="0">
              <a:buNone/>
            </a:pPr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7D947B68-CCE0-8635-CEEC-560ED92C5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19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D082BD-FF03-0A80-4C9F-09E05872D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144588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The algorithm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3B2BE59-4FB8-B558-267C-654DCC8F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BE" dirty="0">
                <a:solidFill>
                  <a:schemeClr val="bg1"/>
                </a:solidFill>
              </a:rPr>
              <a:t>Price estimation of plots based on previous data (type, surface area, location.)</a:t>
            </a:r>
          </a:p>
          <a:p>
            <a:r>
              <a:rPr lang="nl-BE" dirty="0">
                <a:solidFill>
                  <a:schemeClr val="bg1"/>
                </a:solidFill>
              </a:rPr>
              <a:t>Model learns from sold plots, continuously improves</a:t>
            </a:r>
          </a:p>
          <a:p>
            <a:r>
              <a:rPr lang="nl-BE" dirty="0">
                <a:solidFill>
                  <a:schemeClr val="bg1"/>
                </a:solidFill>
              </a:rPr>
              <a:t>Operation:</a:t>
            </a:r>
          </a:p>
          <a:p>
            <a:pPr marL="914400" lvl="1" indent="-457200">
              <a:buFont typeface="+mj-lt"/>
              <a:buAutoNum type="arabicPeriod"/>
            </a:pPr>
            <a:r>
              <a:rPr lang="nl-BE" altLang="nl-BE" dirty="0">
                <a:solidFill>
                  <a:schemeClr val="bg1"/>
                </a:solidFill>
              </a:rPr>
              <a:t>Identify similar plots:</a:t>
            </a:r>
            <a:br>
              <a:rPr lang="nl-BE" altLang="nl-BE" dirty="0">
                <a:solidFill>
                  <a:schemeClr val="bg1"/>
                </a:solidFill>
              </a:rPr>
            </a:br>
            <a:r>
              <a:rPr lang="nl-BE" altLang="nl-BE" dirty="0">
                <a:solidFill>
                  <a:schemeClr val="bg1"/>
                </a:solidFill>
              </a:rPr>
              <a:t>Finds previously sold plots with a similar type and size, and in the same or nearby location.</a:t>
            </a:r>
          </a:p>
          <a:p>
            <a:pPr marL="914400" lvl="1" indent="-457200">
              <a:buFont typeface="+mj-lt"/>
              <a:buAutoNum type="arabicPeriod"/>
            </a:pPr>
            <a:r>
              <a:rPr lang="nl-BE" altLang="nl-BE" dirty="0">
                <a:solidFill>
                  <a:schemeClr val="bg1"/>
                </a:solidFill>
              </a:rPr>
              <a:t>Select nearest neighbors:</a:t>
            </a:r>
            <a:br>
              <a:rPr lang="nl-BE" altLang="nl-BE" dirty="0">
                <a:solidFill>
                  <a:schemeClr val="bg1"/>
                </a:solidFill>
              </a:rPr>
            </a:br>
            <a:r>
              <a:rPr lang="nl-BE" altLang="nl-BE" dirty="0">
                <a:solidFill>
                  <a:schemeClr val="bg1"/>
                </a:solidFill>
              </a:rPr>
              <a:t>k-NN chooses the k most similar sold plots based on these features. (k=5)</a:t>
            </a:r>
          </a:p>
          <a:p>
            <a:pPr marL="914400" lvl="1" indent="-457200">
              <a:buFont typeface="+mj-lt"/>
              <a:buAutoNum type="arabicPeriod"/>
            </a:pPr>
            <a:r>
              <a:rPr lang="nl-BE" altLang="nl-BE" dirty="0">
                <a:solidFill>
                  <a:schemeClr val="bg1"/>
                </a:solidFill>
              </a:rPr>
              <a:t>Predict price:</a:t>
            </a:r>
            <a:br>
              <a:rPr lang="nl-BE" altLang="nl-BE" dirty="0">
                <a:solidFill>
                  <a:schemeClr val="bg1"/>
                </a:solidFill>
              </a:rPr>
            </a:br>
            <a:r>
              <a:rPr lang="nl-BE" altLang="nl-BE" dirty="0">
                <a:solidFill>
                  <a:schemeClr val="bg1"/>
                </a:solidFill>
              </a:rPr>
              <a:t>The estimated price is calculated from the sale prices of these neighbors.</a:t>
            </a:r>
          </a:p>
          <a:p>
            <a:pPr marL="457200" lvl="1" indent="0">
              <a:buNone/>
            </a:pPr>
            <a:r>
              <a:rPr lang="nl-BE" altLang="nl-BE" dirty="0">
                <a:solidFill>
                  <a:schemeClr val="bg1"/>
                </a:solidFill>
              </a:rPr>
              <a:t>As new sales enter the dataset, predictions stay up-to-date.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nl-BE" dirty="0">
              <a:solidFill>
                <a:schemeClr val="bg1"/>
              </a:solidFill>
            </a:endParaRPr>
          </a:p>
          <a:p>
            <a:endParaRPr lang="nl-BE" dirty="0">
              <a:solidFill>
                <a:schemeClr val="bg1"/>
              </a:solidFill>
            </a:endParaRPr>
          </a:p>
          <a:p>
            <a:endParaRPr lang="nl-BE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nl-BE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8B7712B2-32F3-327B-CA61-C1B854ED7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312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6817D8-B09B-5696-ACE5-797FD3062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DEMO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5CC1F78-153A-80D1-0DAB-63E9A9B8F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https://www.youtube.com/watch?v=5l8xzvWOSDg</a:t>
            </a:r>
            <a:r>
              <a:rPr lang="nl-BE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3796C83B-BF01-EA10-35C4-F7B4B5CFC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335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4D9D4-F4E7-346A-0419-B0DD248C1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1325563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Best practices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DCAECEC-3A6C-280D-1AE5-1B8D7CCF4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4829"/>
            <a:ext cx="10515600" cy="3972133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No duplication!</a:t>
            </a:r>
          </a:p>
          <a:p>
            <a:r>
              <a:rPr lang="nl-BE" dirty="0">
                <a:solidFill>
                  <a:schemeClr val="bg1"/>
                </a:solidFill>
              </a:rPr>
              <a:t>Images via buckets</a:t>
            </a:r>
          </a:p>
          <a:p>
            <a:r>
              <a:rPr lang="nl-BE" dirty="0">
                <a:solidFill>
                  <a:schemeClr val="bg1"/>
                </a:solidFill>
              </a:rPr>
              <a:t>Render: </a:t>
            </a:r>
            <a:r>
              <a:rPr lang="nl-BE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https://group-24-4myd.onrender.com/</a:t>
            </a:r>
            <a:r>
              <a:rPr lang="nl-BE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B9189CB-939F-3366-E8A5-934D1989D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259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E36AF0-C8D3-5AC4-2489-97CBBB758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ERD Model</a:t>
            </a:r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D190C1DB-52A0-4849-32C5-27583CFB9E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07960" y="695323"/>
            <a:ext cx="6384039" cy="6191686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75893CEE-1BD7-C709-835E-A81374BB7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515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FA027-037F-F1A2-8A06-4540FF3E6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Supabase</a:t>
            </a:r>
          </a:p>
        </p:txBody>
      </p:sp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B196EAF3-697F-764F-9718-5D449AE878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17201" y="695324"/>
            <a:ext cx="7074799" cy="6162676"/>
          </a:xfr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2BBB302E-FE31-F037-A34F-463549B2B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6507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4A74F8-0780-36E4-6B87-AF35C6246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Scalability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5BDD04E-F074-6739-7FFF-C8CAD7268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30560" cy="5167312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Centralised off-market platform for developers</a:t>
            </a:r>
          </a:p>
          <a:p>
            <a:pPr lvl="1">
              <a:lnSpc>
                <a:spcPct val="100000"/>
              </a:lnSpc>
            </a:pPr>
            <a:r>
              <a:rPr lang="nl-BE" sz="2300" dirty="0">
                <a:solidFill>
                  <a:schemeClr val="bg1"/>
                </a:solidFill>
                <a:sym typeface="Wingdings" pitchFamily="2" charset="2"/>
              </a:rPr>
              <a:t>All property information </a:t>
            </a:r>
            <a:r>
              <a:rPr lang="nl-BE" sz="2300" dirty="0">
                <a:solidFill>
                  <a:schemeClr val="bg1"/>
                </a:solidFill>
              </a:rPr>
              <a:t>accessible </a:t>
            </a:r>
            <a:r>
              <a:rPr lang="nl-BE" sz="2300" dirty="0">
                <a:solidFill>
                  <a:schemeClr val="bg1"/>
                </a:solidFill>
                <a:sym typeface="Wingdings" pitchFamily="2" charset="2"/>
              </a:rPr>
              <a:t>on one website</a:t>
            </a:r>
          </a:p>
          <a:p>
            <a:r>
              <a:rPr lang="nl-BE" dirty="0">
                <a:solidFill>
                  <a:schemeClr val="bg1"/>
                </a:solidFill>
                <a:sym typeface="Wingdings" pitchFamily="2" charset="2"/>
              </a:rPr>
              <a:t>Richer property data model</a:t>
            </a:r>
          </a:p>
          <a:p>
            <a:pPr lvl="1">
              <a:lnSpc>
                <a:spcPct val="100000"/>
              </a:lnSpc>
            </a:pPr>
            <a:r>
              <a:rPr lang="nl-BE" sz="2300" dirty="0">
                <a:solidFill>
                  <a:schemeClr val="bg1"/>
                </a:solidFill>
                <a:sym typeface="Wingdings" pitchFamily="2" charset="2"/>
              </a:rPr>
              <a:t>Add structured </a:t>
            </a:r>
            <a:r>
              <a:rPr lang="nl-BE" sz="2300" dirty="0">
                <a:solidFill>
                  <a:schemeClr val="bg1"/>
                </a:solidFill>
              </a:rPr>
              <a:t>attributes</a:t>
            </a:r>
            <a:r>
              <a:rPr lang="nl-BE" sz="2300" dirty="0">
                <a:solidFill>
                  <a:schemeClr val="bg1"/>
                </a:solidFill>
                <a:sym typeface="Wingdings" pitchFamily="2" charset="2"/>
              </a:rPr>
              <a:t> such as building permit, zoning type, allowed density, regulatory constraints </a:t>
            </a:r>
          </a:p>
          <a:p>
            <a:r>
              <a:rPr lang="nl-BE" dirty="0">
                <a:solidFill>
                  <a:schemeClr val="bg1"/>
                </a:solidFill>
              </a:rPr>
              <a:t>Smarter price estimation</a:t>
            </a:r>
          </a:p>
          <a:p>
            <a:pPr lvl="1"/>
            <a:r>
              <a:rPr lang="nl-BE" sz="2300" dirty="0">
                <a:solidFill>
                  <a:schemeClr val="bg1"/>
                </a:solidFill>
              </a:rPr>
              <a:t>Improve the algorithm with more data and parameters as the platform grows</a:t>
            </a:r>
          </a:p>
          <a:p>
            <a:r>
              <a:rPr lang="nl-BE" dirty="0">
                <a:solidFill>
                  <a:schemeClr val="bg1"/>
                </a:solidFill>
              </a:rPr>
              <a:t>Data driven network effects</a:t>
            </a:r>
          </a:p>
          <a:p>
            <a:pPr lvl="1">
              <a:lnSpc>
                <a:spcPct val="100000"/>
              </a:lnSpc>
            </a:pPr>
            <a:r>
              <a:rPr lang="nl-BE" sz="2300" dirty="0">
                <a:solidFill>
                  <a:schemeClr val="bg1"/>
                </a:solidFill>
              </a:rPr>
              <a:t>More listings and transactions continuously improve matching and pricing</a:t>
            </a:r>
          </a:p>
          <a:p>
            <a:r>
              <a:rPr lang="nl-BE" dirty="0">
                <a:solidFill>
                  <a:schemeClr val="bg1"/>
                </a:solidFill>
              </a:rPr>
              <a:t>Geographic expansion</a:t>
            </a:r>
          </a:p>
          <a:p>
            <a:pPr lvl="1"/>
            <a:r>
              <a:rPr lang="nl-BE" sz="2300" dirty="0">
                <a:solidFill>
                  <a:schemeClr val="bg1"/>
                </a:solidFill>
              </a:rPr>
              <a:t>Scalable to new regions and international markets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4919768E-DD2E-A9F0-832B-707643540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705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01A7AC-4DCE-7F64-CA10-BB03A9538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58" y="695324"/>
            <a:ext cx="10515600" cy="1325563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Q&amp;A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E2E309C-6CC7-18DC-5D50-EE46C236C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2819"/>
            <a:ext cx="10515600" cy="4044143"/>
          </a:xfrm>
        </p:spPr>
        <p:txBody>
          <a:bodyPr/>
          <a:lstStyle/>
          <a:p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D99EEC98-A0AD-0FF4-71BA-B81129837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8720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EA6B8F-5E0B-CB28-12C1-1CDCBAD06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Extra slides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CA0A389-B926-013E-DD13-D8DDB45A0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4017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AF1BEB-7BC2-5D70-CB68-F35E696E99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Scalability: Platform &amp; Interaction Layer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0E27AB2-EDC7-6288-8605-1795616253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27795"/>
          </a:xfrm>
        </p:spPr>
        <p:txBody>
          <a:bodyPr>
            <a:normAutofit fontScale="77500" lnSpcReduction="20000"/>
          </a:bodyPr>
          <a:lstStyle/>
          <a:p>
            <a:r>
              <a:rPr lang="nl-BE" dirty="0">
                <a:solidFill>
                  <a:schemeClr val="bg1"/>
                </a:solidFill>
              </a:rPr>
              <a:t>Scalable communication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In-platform messaging between developers and landowners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Asynchronous contact instead of manual coordination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Supports growth in users without increasing friction</a:t>
            </a:r>
          </a:p>
          <a:p>
            <a:r>
              <a:rPr lang="nl-BE" dirty="0">
                <a:solidFill>
                  <a:schemeClr val="bg1"/>
                </a:solidFill>
              </a:rPr>
              <a:t>Automated notifications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Email alerts when a developer shows interest in a property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Status updates (interest shown, contact revealed, property sold)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Reduces response time and manual follow-up</a:t>
            </a:r>
          </a:p>
          <a:p>
            <a:r>
              <a:rPr lang="nl-BE" dirty="0">
                <a:solidFill>
                  <a:schemeClr val="bg1"/>
                </a:solidFill>
              </a:rPr>
              <a:t>Saved searches &amp; alerts for developers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Developers define search criteria (location, size, type, price range)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Automatic notifications when new matching properties are listed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One-to-many discovery without manual browsing</a:t>
            </a:r>
          </a:p>
          <a:p>
            <a:r>
              <a:rPr lang="nl-BE" dirty="0">
                <a:solidFill>
                  <a:schemeClr val="bg1"/>
                </a:solidFill>
              </a:rPr>
              <a:t>Interaction scalability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One landowner can handle multiple interested developers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One developer can monitor many opportunities simultaneously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nl-BE" dirty="0">
                <a:solidFill>
                  <a:schemeClr val="bg1"/>
                </a:solidFill>
              </a:rPr>
              <a:t>Platform scales in interactions, not just users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01693909-AACB-FD4B-E87A-742E50C88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105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E6D9C5-8F61-92CC-412A-41DABBFD6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30706"/>
            <a:ext cx="10515600" cy="1059536"/>
          </a:xfrm>
        </p:spPr>
        <p:txBody>
          <a:bodyPr>
            <a:normAutofit fontScale="90000"/>
          </a:bodyPr>
          <a:lstStyle/>
          <a:p>
            <a:pPr>
              <a:spcBef>
                <a:spcPts val="600"/>
              </a:spcBef>
            </a:pPr>
            <a:r>
              <a:rPr lang="nl-BE" dirty="0">
                <a:solidFill>
                  <a:schemeClr val="bg1"/>
                </a:solidFill>
              </a:rPr>
              <a:t>Integrated Artificial Intelligence in Our Platform</a:t>
            </a:r>
            <a:endParaRPr lang="nl-BE" sz="4900" dirty="0">
              <a:solidFill>
                <a:schemeClr val="bg1"/>
              </a:solidFill>
            </a:endParaRP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8CF0F5B-A119-0B19-32C2-9985F21CE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What we already implemented:</a:t>
            </a:r>
          </a:p>
          <a:p>
            <a:r>
              <a:rPr lang="nl-BE" dirty="0">
                <a:solidFill>
                  <a:schemeClr val="bg1"/>
                </a:solidFill>
              </a:rPr>
              <a:t>KNN-based price estimation (Machine Learning)</a:t>
            </a:r>
          </a:p>
          <a:p>
            <a:pPr lvl="1">
              <a:buFont typeface="Wingdings" pitchFamily="2" charset="2"/>
              <a:buChar char="è"/>
            </a:pPr>
            <a:r>
              <a:rPr lang="nl-BE" dirty="0">
                <a:solidFill>
                  <a:schemeClr val="bg1"/>
                </a:solidFill>
              </a:rPr>
              <a:t>We use a K-Nearest Neighbors (KNN) model trained on historical sold properties.</a:t>
            </a:r>
          </a:p>
          <a:p>
            <a:pPr lvl="1">
              <a:buFont typeface="Wingdings" pitchFamily="2" charset="2"/>
              <a:buChar char="è"/>
            </a:pPr>
            <a:r>
              <a:rPr lang="nl-BE" dirty="0">
                <a:solidFill>
                  <a:schemeClr val="bg1"/>
                </a:solidFill>
              </a:rPr>
              <a:t>Each property is represented as a feature vector (city, province, property type, surface area).</a:t>
            </a:r>
          </a:p>
          <a:p>
            <a:pPr lvl="1">
              <a:buFont typeface="Wingdings" pitchFamily="2" charset="2"/>
              <a:buChar char="è"/>
            </a:pPr>
            <a:r>
              <a:rPr lang="nl-BE" dirty="0">
                <a:solidFill>
                  <a:schemeClr val="bg1"/>
                </a:solidFill>
              </a:rPr>
              <a:t>The model infers a realistic price range from the K most similar past transactions.</a:t>
            </a:r>
          </a:p>
          <a:p>
            <a:pPr lvl="1">
              <a:buFont typeface="Wingdings" pitchFamily="2" charset="2"/>
              <a:buChar char="è"/>
            </a:pPr>
            <a:r>
              <a:rPr lang="nl-BE" dirty="0">
                <a:solidFill>
                  <a:schemeClr val="bg1"/>
                </a:solidFill>
              </a:rPr>
              <a:t>No fixed pricing rules → the model adapts automatically as new sales data is added.</a:t>
            </a:r>
          </a:p>
          <a:p>
            <a:r>
              <a:rPr lang="nl-BE" dirty="0">
                <a:solidFill>
                  <a:schemeClr val="bg1"/>
                </a:solidFill>
              </a:rPr>
              <a:t>Explainable, data-driven decision support rather than black-box pricing.</a:t>
            </a:r>
          </a:p>
          <a:p>
            <a:pPr marL="0" indent="0">
              <a:buNone/>
            </a:pPr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F4137320-EE55-73BB-8D07-D051F99A55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4428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89580AD-28E4-9132-F131-43E56386BD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Why this qualifies as Artificial Intelligence</a:t>
            </a:r>
          </a:p>
          <a:p>
            <a:pPr lvl="1">
              <a:buFont typeface="Wingdings" pitchFamily="2" charset="2"/>
              <a:buChar char="è"/>
            </a:pPr>
            <a:r>
              <a:rPr lang="nl-BE" dirty="0">
                <a:solidFill>
                  <a:schemeClr val="bg1"/>
                </a:solidFill>
              </a:rPr>
              <a:t>Data-driven inference, not rule-based logic</a:t>
            </a:r>
          </a:p>
          <a:p>
            <a:pPr lvl="1">
              <a:buFont typeface="Wingdings" pitchFamily="2" charset="2"/>
              <a:buChar char="è"/>
            </a:pPr>
            <a:r>
              <a:rPr lang="nl-BE" dirty="0">
                <a:solidFill>
                  <a:schemeClr val="bg1"/>
                </a:solidFill>
              </a:rPr>
              <a:t>Non-parametric machine learning (no predefined market assumptions)</a:t>
            </a:r>
          </a:p>
          <a:p>
            <a:pPr lvl="1">
              <a:buFont typeface="Wingdings" pitchFamily="2" charset="2"/>
              <a:buChar char="è"/>
            </a:pPr>
            <a:r>
              <a:rPr lang="nl-BE" dirty="0">
                <a:solidFill>
                  <a:schemeClr val="bg1"/>
                </a:solidFill>
              </a:rPr>
              <a:t>Output changes dynamically with the dataset</a:t>
            </a:r>
          </a:p>
          <a:p>
            <a:pPr lvl="1">
              <a:buFont typeface="Wingdings" pitchFamily="2" charset="2"/>
              <a:buChar char="è"/>
            </a:pPr>
            <a:r>
              <a:rPr lang="nl-BE" dirty="0">
                <a:solidFill>
                  <a:schemeClr val="bg1"/>
                </a:solidFill>
              </a:rPr>
              <a:t>Transparent and explainable (comparable-based reasoning)</a:t>
            </a:r>
          </a:p>
          <a:p>
            <a:endParaRPr lang="nl-BE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170D42C-C8C5-B8DE-0C6E-753EEEF94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3901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DD54B8-CF91-264E-72F3-04710DE53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AI extensions enabled by this architecture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2CBD8F2-F94F-8C9B-DC89-49D058117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nl-BE" dirty="0">
                <a:solidFill>
                  <a:schemeClr val="bg1"/>
                </a:solidFill>
              </a:rPr>
              <a:t>⁠ ⁠Smarter price ranges</a:t>
            </a:r>
          </a:p>
          <a:p>
            <a:pPr lvl="1"/>
            <a:r>
              <a:rPr lang="nl-BE" dirty="0">
                <a:solidFill>
                  <a:schemeClr val="bg1"/>
                </a:solidFill>
              </a:rPr>
              <a:t>Weighted KNN (location, size similarity, recency)</a:t>
            </a:r>
          </a:p>
          <a:p>
            <a:pPr lvl="1"/>
            <a:r>
              <a:rPr lang="nl-BE" dirty="0">
                <a:solidFill>
                  <a:schemeClr val="bg1"/>
                </a:solidFill>
              </a:rPr>
              <a:t>Confidence score based on variance and number of neighbors</a:t>
            </a:r>
          </a:p>
          <a:p>
            <a:pPr marL="514350" indent="-514350">
              <a:buFont typeface="+mj-lt"/>
              <a:buAutoNum type="arabicPeriod"/>
            </a:pPr>
            <a:r>
              <a:rPr lang="nl-BE" dirty="0">
                <a:solidFill>
                  <a:schemeClr val="bg1"/>
                </a:solidFill>
              </a:rPr>
              <a:t>Intelligent matching (Recommender System)</a:t>
            </a:r>
          </a:p>
          <a:p>
            <a:pPr lvl="1"/>
            <a:r>
              <a:rPr lang="nl-BE" dirty="0">
                <a:solidFill>
                  <a:schemeClr val="bg1"/>
                </a:solidFill>
              </a:rPr>
              <a:t>Similarity-based matching between properties and verified developers</a:t>
            </a:r>
          </a:p>
          <a:p>
            <a:pPr lvl="1"/>
            <a:r>
              <a:rPr lang="nl-BE" dirty="0">
                <a:solidFill>
                  <a:schemeClr val="bg1"/>
                </a:solidFill>
              </a:rPr>
              <a:t>Ranked recommendations instead of broadcasting listings</a:t>
            </a:r>
          </a:p>
          <a:p>
            <a:pPr lvl="1"/>
            <a:r>
              <a:rPr lang="nl-BE" dirty="0">
                <a:solidFill>
                  <a:schemeClr val="bg1"/>
                </a:solidFill>
              </a:rPr>
              <a:t>Capacity-aware, discreet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nl-BE" dirty="0">
                <a:solidFill>
                  <a:schemeClr val="bg1"/>
                </a:solidFill>
              </a:rPr>
              <a:t>⁠Trust &amp; quality control</a:t>
            </a:r>
          </a:p>
          <a:p>
            <a:pPr lvl="1"/>
            <a:r>
              <a:rPr lang="nl-BE" dirty="0">
                <a:solidFill>
                  <a:schemeClr val="bg1"/>
                </a:solidFill>
              </a:rPr>
              <a:t>Anomaly detection for unrealistic price–size combinations</a:t>
            </a:r>
          </a:p>
          <a:p>
            <a:pPr lvl="1"/>
            <a:r>
              <a:rPr lang="nl-BE" dirty="0">
                <a:solidFill>
                  <a:schemeClr val="bg1"/>
                </a:solidFill>
              </a:rPr>
              <a:t>Automated data normalization (locations, duplicates)</a:t>
            </a:r>
          </a:p>
          <a:p>
            <a:pPr marL="0" indent="0">
              <a:buNone/>
            </a:pPr>
            <a:endParaRPr lang="nl-BE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Key takeaway:</a:t>
            </a:r>
          </a:p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AI transforms our platform from a passive listing site into an intelligent, discreet matchmaker that learns from data and improves over time.</a:t>
            </a:r>
          </a:p>
          <a:p>
            <a:endParaRPr lang="nl-BE" dirty="0">
              <a:solidFill>
                <a:schemeClr val="bg1"/>
              </a:solidFill>
            </a:endParaRPr>
          </a:p>
          <a:p>
            <a:endParaRPr lang="nl-BE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7BA111E1-C887-6FBA-795A-62280CAA6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475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a">
  <a:themeElements>
    <a:clrScheme name="Office 2013 - 2022 Th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458</TotalTime>
  <Words>1004</Words>
  <Application>Microsoft Macintosh PowerPoint</Application>
  <PresentationFormat>Breedbeeld</PresentationFormat>
  <Paragraphs>116</Paragraphs>
  <Slides>21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6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Courier New</vt:lpstr>
      <vt:lpstr>Wingdings</vt:lpstr>
      <vt:lpstr>Office 2013 - 2022 Thema</vt:lpstr>
      <vt:lpstr>Oral defence</vt:lpstr>
      <vt:lpstr>Team</vt:lpstr>
      <vt:lpstr>Problem</vt:lpstr>
      <vt:lpstr>MVP userstories</vt:lpstr>
      <vt:lpstr>MVP userstories</vt:lpstr>
      <vt:lpstr>MVP userstories</vt:lpstr>
      <vt:lpstr>Opportunity</vt:lpstr>
      <vt:lpstr>The solution: GroundLink</vt:lpstr>
      <vt:lpstr>The website &amp; its functions</vt:lpstr>
      <vt:lpstr>The algorithm</vt:lpstr>
      <vt:lpstr>DEMO</vt:lpstr>
      <vt:lpstr>Best practices</vt:lpstr>
      <vt:lpstr>ERD Model</vt:lpstr>
      <vt:lpstr>Supabase</vt:lpstr>
      <vt:lpstr>Scalability</vt:lpstr>
      <vt:lpstr>Q&amp;A</vt:lpstr>
      <vt:lpstr>Extra slides</vt:lpstr>
      <vt:lpstr>Scalability: Platform &amp; Interaction Layer</vt:lpstr>
      <vt:lpstr>Integrated Artificial Intelligence in Our Platform</vt:lpstr>
      <vt:lpstr>PowerPoint-presentatie</vt:lpstr>
      <vt:lpstr>AI extensions enabled by this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Amber Verschelden</dc:creator>
  <cp:lastModifiedBy>Amber Verschelden</cp:lastModifiedBy>
  <cp:revision>21</cp:revision>
  <dcterms:created xsi:type="dcterms:W3CDTF">2025-12-09T09:35:56Z</dcterms:created>
  <dcterms:modified xsi:type="dcterms:W3CDTF">2025-12-18T16:22:00Z</dcterms:modified>
</cp:coreProperties>
</file>