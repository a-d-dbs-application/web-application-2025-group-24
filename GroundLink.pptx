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wdp" ContentType="image/vnd.ms-photo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897" r:id="rId1"/>
  </p:sldMasterIdLst>
  <p:notesMasterIdLst>
    <p:notesMasterId r:id="rId17"/>
  </p:notesMasterIdLst>
  <p:sldIdLst>
    <p:sldId id="268" r:id="rId2"/>
    <p:sldId id="257" r:id="rId3"/>
    <p:sldId id="269" r:id="rId4"/>
    <p:sldId id="270" r:id="rId5"/>
    <p:sldId id="258" r:id="rId6"/>
    <p:sldId id="267" r:id="rId7"/>
    <p:sldId id="272" r:id="rId8"/>
    <p:sldId id="273" r:id="rId9"/>
    <p:sldId id="259" r:id="rId10"/>
    <p:sldId id="266" r:id="rId11"/>
    <p:sldId id="263" r:id="rId12"/>
    <p:sldId id="265" r:id="rId13"/>
    <p:sldId id="261" r:id="rId14"/>
    <p:sldId id="264" r:id="rId15"/>
    <p:sldId id="274" r:id="rId16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B3D91"/>
    <a:srgbClr val="184F9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8784"/>
    <p:restoredTop sz="77083"/>
  </p:normalViewPr>
  <p:slideViewPr>
    <p:cSldViewPr>
      <p:cViewPr varScale="1">
        <p:scale>
          <a:sx n="81" d="100"/>
          <a:sy n="81" d="100"/>
        </p:scale>
        <p:origin x="1048" y="1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10" cy="7201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koptekst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nl-BE"/>
          </a:p>
        </p:txBody>
      </p:sp>
      <p:sp>
        <p:nvSpPr>
          <p:cNvPr id="3" name="Tijdelijke aanduiding voor datum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21E7779-ADFD-0142-9380-FE106EC3D6DC}" type="datetimeFigureOut">
              <a:rPr lang="nl-BE" smtClean="0"/>
              <a:t>13/12/2025</a:t>
            </a:fld>
            <a:endParaRPr lang="nl-BE"/>
          </a:p>
        </p:txBody>
      </p:sp>
      <p:sp>
        <p:nvSpPr>
          <p:cNvPr id="4" name="Tijdelijke aanduiding voor dia-afbeelding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nl-BE"/>
          </a:p>
        </p:txBody>
      </p:sp>
      <p:sp>
        <p:nvSpPr>
          <p:cNvPr id="5" name="Tijdelijke aanduiding voor notiti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nl-BE"/>
          </a:p>
        </p:txBody>
      </p:sp>
      <p:sp>
        <p:nvSpPr>
          <p:cNvPr id="6" name="Tijdelijke aanduiding voor voettekst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nl-BE"/>
          </a:p>
        </p:txBody>
      </p:sp>
      <p:sp>
        <p:nvSpPr>
          <p:cNvPr id="7" name="Tijdelijke aanduiding voor dianumm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6FEED7E-21A8-174A-A4F9-B69B6085679D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5435025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jdelijke aanduiding voor dia-afbeelding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Tijdelijke aanduiding voor notiti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nl-BE" dirty="0"/>
          </a:p>
        </p:txBody>
      </p:sp>
      <p:sp>
        <p:nvSpPr>
          <p:cNvPr id="4" name="Tijdelijke aanduiding voor dianumm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86FEED7E-21A8-174A-A4F9-B69B6085679D}" type="slidenum">
              <a:rPr lang="nl-BE" smtClean="0"/>
              <a:t>6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68082185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di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nl-NL"/>
              <a:t>Klikken om de ondertitelstijl van het model te bewerken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4399D2-0876-F549-B1B4-16DD954EB771}" type="datetimeFigureOut">
              <a:rPr lang="nl-BE" smtClean="0"/>
              <a:t>13/12/2025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50445F-5F48-4840-837F-1791B1C329A6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477992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en objec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4399D2-0876-F549-B1B4-16DD954EB771}" type="datetimeFigureOut">
              <a:rPr lang="nl-BE" smtClean="0"/>
              <a:t>13/12/2025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50445F-5F48-4840-837F-1791B1C329A6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7447665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ekop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4399D2-0876-F549-B1B4-16DD954EB771}" type="datetimeFigureOut">
              <a:rPr lang="nl-BE" smtClean="0"/>
              <a:t>13/12/2025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50445F-5F48-4840-837F-1791B1C329A6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64567204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Inhoud van twe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4399D2-0876-F549-B1B4-16DD954EB771}" type="datetimeFigureOut">
              <a:rPr lang="nl-BE" smtClean="0"/>
              <a:t>13/12/2025</a:t>
            </a:fld>
            <a:endParaRPr lang="nl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50445F-5F48-4840-837F-1791B1C329A6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94794272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elijkin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4399D2-0876-F549-B1B4-16DD954EB771}" type="datetimeFigureOut">
              <a:rPr lang="nl-BE" smtClean="0"/>
              <a:t>13/12/2025</a:t>
            </a:fld>
            <a:endParaRPr lang="nl-BE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50445F-5F48-4840-837F-1791B1C329A6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51392819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Alleen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4399D2-0876-F549-B1B4-16DD954EB771}" type="datetimeFigureOut">
              <a:rPr lang="nl-BE" smtClean="0"/>
              <a:t>13/12/2025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50445F-5F48-4840-837F-1791B1C329A6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4751506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g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4399D2-0876-F549-B1B4-16DD954EB771}" type="datetimeFigureOut">
              <a:rPr lang="nl-BE" smtClean="0"/>
              <a:t>13/12/2025</a:t>
            </a:fld>
            <a:endParaRPr lang="nl-BE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50445F-5F48-4840-837F-1791B1C329A6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7072441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oud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4399D2-0876-F549-B1B4-16DD954EB771}" type="datetimeFigureOut">
              <a:rPr lang="nl-BE" smtClean="0"/>
              <a:t>13/12/2025</a:t>
            </a:fld>
            <a:endParaRPr lang="nl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50445F-5F48-4840-837F-1791B1C329A6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403815242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Afbeelding met bij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nl-NL"/>
              <a:t>Klik op het pictogram als u een afbeelding wilt toevoegen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nl-NL"/>
              <a:t>Klikken om de tekststijl van het model te bewerken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4399D2-0876-F549-B1B4-16DD954EB771}" type="datetimeFigureOut">
              <a:rPr lang="nl-BE" smtClean="0"/>
              <a:t>13/12/2025</a:t>
            </a:fld>
            <a:endParaRPr lang="nl-BE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50445F-5F48-4840-837F-1791B1C329A6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5930445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en verticale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4399D2-0876-F549-B1B4-16DD954EB771}" type="datetimeFigureOut">
              <a:rPr lang="nl-BE" smtClean="0"/>
              <a:t>13/12/2025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50445F-5F48-4840-837F-1791B1C329A6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208132474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e titel en teks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A4399D2-0876-F549-B1B4-16DD954EB771}" type="datetimeFigureOut">
              <a:rPr lang="nl-BE" smtClean="0"/>
              <a:t>13/12/2025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850445F-5F48-4840-837F-1791B1C329A6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4043640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3D9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nl-NL"/>
              <a:t>Klik om stijl te bewerken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nl-NL"/>
              <a:t>Klikken om de tekststijl van het model te bewerken</a:t>
            </a:r>
          </a:p>
          <a:p>
            <a:pPr lvl="1"/>
            <a:r>
              <a:rPr lang="nl-NL"/>
              <a:t>Tweede niveau</a:t>
            </a:r>
          </a:p>
          <a:p>
            <a:pPr lvl="2"/>
            <a:r>
              <a:rPr lang="nl-NL"/>
              <a:t>Derde niveau</a:t>
            </a:r>
          </a:p>
          <a:p>
            <a:pPr lvl="3"/>
            <a:r>
              <a:rPr lang="nl-NL"/>
              <a:t>Vierde niveau</a:t>
            </a:r>
          </a:p>
          <a:p>
            <a:pPr lvl="4"/>
            <a:r>
              <a:rPr lang="nl-NL"/>
              <a:t>Vijfde niveau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A4399D2-0876-F549-B1B4-16DD954EB771}" type="datetimeFigureOut">
              <a:rPr lang="nl-BE" smtClean="0"/>
              <a:t>13/12/2025</a:t>
            </a:fld>
            <a:endParaRPr lang="nl-BE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nl-BE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850445F-5F48-4840-837F-1791B1C329A6}" type="slidenum">
              <a:rPr lang="nl-BE" smtClean="0"/>
              <a:t>‹nr.›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101631145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98" r:id="rId1"/>
    <p:sldLayoutId id="2147483899" r:id="rId2"/>
    <p:sldLayoutId id="2147483900" r:id="rId3"/>
    <p:sldLayoutId id="2147483901" r:id="rId4"/>
    <p:sldLayoutId id="2147483902" r:id="rId5"/>
    <p:sldLayoutId id="2147483903" r:id="rId6"/>
    <p:sldLayoutId id="2147483904" r:id="rId7"/>
    <p:sldLayoutId id="2147483905" r:id="rId8"/>
    <p:sldLayoutId id="2147483906" r:id="rId9"/>
    <p:sldLayoutId id="2147483907" r:id="rId10"/>
    <p:sldLayoutId id="2147483908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hyperlink" Target="https://www.youtube.com/watch?v=5l8xzvWOSDg" TargetMode="Externa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hyperlink" Target="https://group-24-4myd.onrender.com/" TargetMode="Externa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B3D9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DDA6B3D-D831-BA5D-13A4-F76E7C998C6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766218"/>
            <a:ext cx="10515600" cy="1325563"/>
          </a:xfrm>
        </p:spPr>
        <p:txBody>
          <a:bodyPr>
            <a:normAutofit/>
          </a:bodyPr>
          <a:lstStyle/>
          <a:p>
            <a:pPr algn="ctr"/>
            <a:r>
              <a:rPr lang="nl-BE" sz="7200" dirty="0">
                <a:solidFill>
                  <a:schemeClr val="bg1"/>
                </a:solidFill>
              </a:rPr>
              <a:t>Oral defence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24D5E689-AED8-C09A-6D7B-D78D260C8EB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3240" y="6021360"/>
            <a:ext cx="10515600" cy="515652"/>
          </a:xfrm>
        </p:spPr>
        <p:txBody>
          <a:bodyPr/>
          <a:lstStyle/>
          <a:p>
            <a:r>
              <a:rPr lang="nl-BE" sz="1800" dirty="0">
                <a:solidFill>
                  <a:schemeClr val="bg1"/>
                </a:solidFill>
              </a:rPr>
              <a:t>January 30, 2026</a:t>
            </a:r>
            <a:endParaRPr lang="nl-BE" dirty="0"/>
          </a:p>
        </p:txBody>
      </p:sp>
      <p:pic>
        <p:nvPicPr>
          <p:cNvPr id="4" name="Picture 2">
            <a:extLst>
              <a:ext uri="{FF2B5EF4-FFF2-40B4-BE49-F238E27FC236}">
                <a16:creationId xmlns:a16="http://schemas.microsoft.com/office/drawing/2014/main" id="{7FADC503-4651-C3F2-C4B4-67D03896C7F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alphaModFix/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saturation sat="183000"/>
                    </a14:imgEffect>
                  </a14:imgLayer>
                </a14:imgProps>
              </a:ex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708474" y="4893637"/>
            <a:ext cx="2483526" cy="1988800"/>
          </a:xfrm>
          <a:prstGeom prst="rect">
            <a:avLst/>
          </a:prstGeom>
          <a:solidFill>
            <a:srgbClr val="FFFFFF">
              <a:shade val="85000"/>
            </a:srgbClr>
          </a:solidFill>
          <a:ln w="88900" cap="sq">
            <a:solidFill>
              <a:srgbClr val="FFFFFF"/>
            </a:solidFill>
            <a:miter lim="800000"/>
          </a:ln>
          <a:effectLst>
            <a:outerShdw blurRad="55000" dist="18000" dir="5400000" algn="tl" rotWithShape="0">
              <a:srgbClr val="000000">
                <a:alpha val="40000"/>
              </a:srgbClr>
            </a:outerShdw>
          </a:effectLst>
          <a:scene3d>
            <a:camera prst="orthographicFront"/>
            <a:lightRig rig="twoPt" dir="t">
              <a:rot lat="0" lon="0" rev="7200000"/>
            </a:lightRig>
          </a:scene3d>
          <a:sp3d>
            <a:bevelT w="25400" h="19050"/>
            <a:contourClr>
              <a:srgbClr val="FFFFFF"/>
            </a:contourClr>
          </a:sp3d>
        </p:spPr>
      </p:pic>
      <p:pic>
        <p:nvPicPr>
          <p:cNvPr id="9" name="Afbeelding 8">
            <a:extLst>
              <a:ext uri="{FF2B5EF4-FFF2-40B4-BE49-F238E27FC236}">
                <a16:creationId xmlns:a16="http://schemas.microsoft.com/office/drawing/2014/main" id="{9145F6FC-DF2C-3544-0C3A-58BCEF8D5AC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953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124483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518DD23-E098-869E-FB19-13B13C603A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670" y="804555"/>
            <a:ext cx="10299570" cy="933426"/>
          </a:xfrm>
        </p:spPr>
        <p:txBody>
          <a:bodyPr/>
          <a:lstStyle/>
          <a:p>
            <a:r>
              <a:rPr lang="nl-BE" dirty="0">
                <a:solidFill>
                  <a:schemeClr val="bg1"/>
                </a:solidFill>
              </a:rPr>
              <a:t>Team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652E0159-BE88-7329-458E-21F89D6538DE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041770" cy="4351338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BE" dirty="0">
                <a:solidFill>
                  <a:schemeClr val="bg1"/>
                </a:solidFill>
              </a:rPr>
              <a:t>We are:</a:t>
            </a:r>
          </a:p>
          <a:p>
            <a:r>
              <a:rPr lang="nl-BE" sz="2000" dirty="0">
                <a:solidFill>
                  <a:schemeClr val="bg1"/>
                </a:solidFill>
              </a:rPr>
              <a:t>Lili Maryns</a:t>
            </a:r>
          </a:p>
          <a:p>
            <a:r>
              <a:rPr lang="nl-BE" sz="2000" dirty="0">
                <a:solidFill>
                  <a:schemeClr val="bg1"/>
                </a:solidFill>
              </a:rPr>
              <a:t>Wout Cardoen</a:t>
            </a:r>
          </a:p>
          <a:p>
            <a:r>
              <a:rPr lang="nl-BE" sz="2000" dirty="0">
                <a:solidFill>
                  <a:schemeClr val="bg1"/>
                </a:solidFill>
              </a:rPr>
              <a:t>Maxime Jolie</a:t>
            </a:r>
          </a:p>
          <a:p>
            <a:r>
              <a:rPr lang="nl-BE" sz="2000" dirty="0">
                <a:solidFill>
                  <a:schemeClr val="bg1"/>
                </a:solidFill>
              </a:rPr>
              <a:t>Pierre-Yves Morreau</a:t>
            </a:r>
          </a:p>
          <a:p>
            <a:r>
              <a:rPr lang="nl-BE" sz="2000" dirty="0">
                <a:solidFill>
                  <a:schemeClr val="bg1"/>
                </a:solidFill>
              </a:rPr>
              <a:t>Amber Verschelden</a:t>
            </a:r>
          </a:p>
        </p:txBody>
      </p:sp>
      <p:sp>
        <p:nvSpPr>
          <p:cNvPr id="6" name="Tekstvak 5">
            <a:extLst>
              <a:ext uri="{FF2B5EF4-FFF2-40B4-BE49-F238E27FC236}">
                <a16:creationId xmlns:a16="http://schemas.microsoft.com/office/drawing/2014/main" id="{09ECC001-6B92-8C26-CDA9-61ACA6C76D75}"/>
              </a:ext>
            </a:extLst>
          </p:cNvPr>
          <p:cNvSpPr txBox="1"/>
          <p:nvPr/>
        </p:nvSpPr>
        <p:spPr>
          <a:xfrm>
            <a:off x="5853963" y="1822156"/>
            <a:ext cx="6312030" cy="231858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nl-BE" sz="2800" dirty="0">
                <a:solidFill>
                  <a:schemeClr val="bg1"/>
                </a:solidFill>
              </a:rPr>
              <a:t>External partner: Ledoux Media </a:t>
            </a:r>
          </a:p>
          <a:p>
            <a:pPr marL="457200" indent="-457200">
              <a:spcBef>
                <a:spcPts val="1000"/>
              </a:spcBef>
              <a:buFont typeface="Wingdings" pitchFamily="2" charset="2"/>
              <a:buChar char="à"/>
            </a:pPr>
            <a:r>
              <a:rPr lang="nl-BE" sz="2000" dirty="0">
                <a:solidFill>
                  <a:schemeClr val="bg1"/>
                </a:solidFill>
                <a:sym typeface="Wingdings" pitchFamily="2" charset="2"/>
              </a:rPr>
              <a:t>Marketing for </a:t>
            </a:r>
            <a:r>
              <a:rPr lang="nl-BE" sz="2000" dirty="0">
                <a:solidFill>
                  <a:schemeClr val="bg1"/>
                </a:solidFill>
              </a:rPr>
              <a:t>Real estate developer</a:t>
            </a:r>
            <a:endParaRPr lang="nl-BE" sz="2000" dirty="0">
              <a:solidFill>
                <a:schemeClr val="bg1"/>
              </a:solidFill>
              <a:sym typeface="Wingdings" pitchFamily="2" charset="2"/>
            </a:endParaRPr>
          </a:p>
          <a:p>
            <a:pPr marL="457200" indent="-457200">
              <a:spcBef>
                <a:spcPts val="1000"/>
              </a:spcBef>
              <a:buFont typeface="Wingdings" pitchFamily="2" charset="2"/>
              <a:buChar char="à"/>
            </a:pPr>
            <a:r>
              <a:rPr lang="nl-BE" sz="2000" dirty="0">
                <a:solidFill>
                  <a:schemeClr val="bg1"/>
                </a:solidFill>
              </a:rPr>
              <a:t>“Project development accelerator | Launch your real estate projects successfully using the Ledoux marketing &amp; sales methodology. Tested in more than 40+ new construction projects.”</a:t>
            </a:r>
          </a:p>
        </p:txBody>
      </p:sp>
      <p:pic>
        <p:nvPicPr>
          <p:cNvPr id="8" name="Afbeelding 7" descr="Afbeelding met Menselijk gezicht, kleding, persoon, glimlach&#10;&#10;Door AI gegenereerde inhoud is mogelijk onjuist.">
            <a:extLst>
              <a:ext uri="{FF2B5EF4-FFF2-40B4-BE49-F238E27FC236}">
                <a16:creationId xmlns:a16="http://schemas.microsoft.com/office/drawing/2014/main" id="{50D5EDDE-1874-F3D9-CD88-CB287E22665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02137" y="4139814"/>
            <a:ext cx="3563843" cy="2718185"/>
          </a:xfrm>
          <a:prstGeom prst="rect">
            <a:avLst/>
          </a:prstGeom>
          <a:effectLst>
            <a:softEdge rad="0"/>
          </a:effectLst>
        </p:spPr>
      </p:pic>
      <p:pic>
        <p:nvPicPr>
          <p:cNvPr id="5" name="Afbeelding 4" descr="Afbeelding met Lettertype, logo, Graphics, grafische vormgeving&#10;&#10;Door AI gegenereerde inhoud is mogelijk onjuist.">
            <a:extLst>
              <a:ext uri="{FF2B5EF4-FFF2-40B4-BE49-F238E27FC236}">
                <a16:creationId xmlns:a16="http://schemas.microsoft.com/office/drawing/2014/main" id="{C0DA3307-02E0-18C5-242C-DEDD2D324EA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2138" y="4166141"/>
            <a:ext cx="1832742" cy="621096"/>
          </a:xfrm>
          <a:prstGeom prst="rect">
            <a:avLst/>
          </a:prstGeom>
        </p:spPr>
      </p:pic>
      <p:pic>
        <p:nvPicPr>
          <p:cNvPr id="9" name="Afbeelding 8">
            <a:extLst>
              <a:ext uri="{FF2B5EF4-FFF2-40B4-BE49-F238E27FC236}">
                <a16:creationId xmlns:a16="http://schemas.microsoft.com/office/drawing/2014/main" id="{C0093E08-7384-5B9E-2CF4-8D5F57BACB9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0" y="0"/>
            <a:ext cx="12192000" cy="6953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8443064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C8A3126-5CE8-3AE2-55DD-CF51C33DA8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95324"/>
            <a:ext cx="10515600" cy="1116518"/>
          </a:xfrm>
        </p:spPr>
        <p:txBody>
          <a:bodyPr>
            <a:normAutofit/>
          </a:bodyPr>
          <a:lstStyle/>
          <a:p>
            <a:r>
              <a:rPr lang="nl-BE" dirty="0">
                <a:solidFill>
                  <a:schemeClr val="bg1"/>
                </a:solidFill>
              </a:rPr>
              <a:t>Problem</a:t>
            </a:r>
            <a:endParaRPr lang="nl-BE" dirty="0"/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AD1BB984-5FF8-E614-DE45-EB3A45A5E58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BE" dirty="0">
                <a:solidFill>
                  <a:schemeClr val="bg1"/>
                </a:solidFill>
              </a:rPr>
              <a:t>Real estate developer: prices too high as soon as land comes online, too much competition.</a:t>
            </a:r>
          </a:p>
          <a:p>
            <a:r>
              <a:rPr lang="nl-BE" dirty="0">
                <a:solidFill>
                  <a:schemeClr val="bg1"/>
                </a:solidFill>
              </a:rPr>
              <a:t>property owners: want discretion, no brokers, do not know value.</a:t>
            </a:r>
          </a:p>
          <a:p>
            <a:endParaRPr lang="nl-BE" dirty="0"/>
          </a:p>
        </p:txBody>
      </p:sp>
      <p:pic>
        <p:nvPicPr>
          <p:cNvPr id="4" name="Afbeelding 3">
            <a:extLst>
              <a:ext uri="{FF2B5EF4-FFF2-40B4-BE49-F238E27FC236}">
                <a16:creationId xmlns:a16="http://schemas.microsoft.com/office/drawing/2014/main" id="{7609B642-6836-D0FD-0812-967FE813273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953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0046543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ACF96E4-853F-7346-9C22-D8B489181B4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14910" y="500062"/>
            <a:ext cx="10515600" cy="1325563"/>
          </a:xfrm>
        </p:spPr>
        <p:txBody>
          <a:bodyPr/>
          <a:lstStyle/>
          <a:p>
            <a:r>
              <a:rPr lang="nl-BE" dirty="0">
                <a:solidFill>
                  <a:schemeClr val="bg1"/>
                </a:solidFill>
              </a:rPr>
              <a:t>Opportunity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F64F0CD5-6E8E-5A7F-012C-E999473A588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BE" dirty="0">
                <a:solidFill>
                  <a:schemeClr val="bg1"/>
                </a:solidFill>
              </a:rPr>
              <a:t>A digital, discreet match between sellers and developers.</a:t>
            </a:r>
          </a:p>
          <a:p>
            <a:r>
              <a:rPr lang="nl-BE" dirty="0">
                <a:solidFill>
                  <a:schemeClr val="bg1"/>
                </a:solidFill>
              </a:rPr>
              <a:t>Offline behavior already exists, but without an efficient existing online platform.</a:t>
            </a:r>
            <a:endParaRPr lang="nl-BE" dirty="0"/>
          </a:p>
        </p:txBody>
      </p:sp>
      <p:pic>
        <p:nvPicPr>
          <p:cNvPr id="4" name="Afbeelding 3">
            <a:extLst>
              <a:ext uri="{FF2B5EF4-FFF2-40B4-BE49-F238E27FC236}">
                <a16:creationId xmlns:a16="http://schemas.microsoft.com/office/drawing/2014/main" id="{0B2D04C5-5E48-0196-3E9A-AFDCC8DABEF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953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362647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444056A7-8C3C-9084-7D8B-C62FA87F89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95324"/>
            <a:ext cx="10515600" cy="1130276"/>
          </a:xfrm>
        </p:spPr>
        <p:txBody>
          <a:bodyPr/>
          <a:lstStyle/>
          <a:p>
            <a:r>
              <a:rPr lang="nl-BE" dirty="0">
                <a:solidFill>
                  <a:schemeClr val="bg1"/>
                </a:solidFill>
              </a:rPr>
              <a:t>The solution: GroundLink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442902EF-8E9D-1A1F-BC2A-2589E1B1459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nl-BE" dirty="0">
                <a:solidFill>
                  <a:schemeClr val="bg1"/>
                </a:solidFill>
              </a:rPr>
              <a:t>A discreet online platform where property owners can anonymously offer their property and only verified real estate developer have access to these off-market opportunities.</a:t>
            </a:r>
          </a:p>
          <a:p>
            <a:r>
              <a:rPr lang="nl-BE" dirty="0">
                <a:solidFill>
                  <a:schemeClr val="bg1"/>
                </a:solidFill>
              </a:rPr>
              <a:t>Closed platform, anonymous listings, verified developers, private communication.</a:t>
            </a:r>
          </a:p>
        </p:txBody>
      </p:sp>
      <p:pic>
        <p:nvPicPr>
          <p:cNvPr id="5" name="Afbeelding 4">
            <a:extLst>
              <a:ext uri="{FF2B5EF4-FFF2-40B4-BE49-F238E27FC236}">
                <a16:creationId xmlns:a16="http://schemas.microsoft.com/office/drawing/2014/main" id="{BCA27FCE-93BF-BD5A-559D-7C7EAF520BC6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953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2449317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42AB7F6-D9D2-04D2-3A7B-FA63CF7A3D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95324"/>
            <a:ext cx="10515600" cy="995364"/>
          </a:xfrm>
        </p:spPr>
        <p:txBody>
          <a:bodyPr/>
          <a:lstStyle/>
          <a:p>
            <a:r>
              <a:rPr lang="nl-BE" dirty="0">
                <a:solidFill>
                  <a:schemeClr val="bg1"/>
                </a:solidFill>
              </a:rPr>
              <a:t>MVP userstories</a:t>
            </a:r>
          </a:p>
        </p:txBody>
      </p:sp>
      <p:pic>
        <p:nvPicPr>
          <p:cNvPr id="7" name="Afbeelding 6">
            <a:extLst>
              <a:ext uri="{FF2B5EF4-FFF2-40B4-BE49-F238E27FC236}">
                <a16:creationId xmlns:a16="http://schemas.microsoft.com/office/drawing/2014/main" id="{A329C947-FC97-9B45-1576-0CC094C2DA9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95324"/>
          </a:xfrm>
          <a:prstGeom prst="rect">
            <a:avLst/>
          </a:prstGeom>
        </p:spPr>
      </p:pic>
      <p:sp>
        <p:nvSpPr>
          <p:cNvPr id="10" name="Tijdelijke aanduiding voor inhoud 2">
            <a:extLst>
              <a:ext uri="{FF2B5EF4-FFF2-40B4-BE49-F238E27FC236}">
                <a16:creationId xmlns:a16="http://schemas.microsoft.com/office/drawing/2014/main" id="{7DE7E37A-6AF1-28FD-57B5-70FCD739DC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53109"/>
            <a:ext cx="11018600" cy="503237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nl-BE" dirty="0">
                <a:solidFill>
                  <a:schemeClr val="bg1"/>
                </a:solidFill>
              </a:rPr>
              <a:t>As a property owner,</a:t>
            </a:r>
          </a:p>
          <a:p>
            <a:r>
              <a:rPr lang="nl-BE" sz="2600" dirty="0">
                <a:solidFill>
                  <a:schemeClr val="bg1"/>
                </a:solidFill>
              </a:rPr>
              <a:t>…I want to anonymously list my land on the platform</a:t>
            </a:r>
            <a:br>
              <a:rPr lang="nl-BE" sz="2600" dirty="0">
                <a:solidFill>
                  <a:schemeClr val="bg1"/>
                </a:solidFill>
              </a:rPr>
            </a:br>
            <a:r>
              <a:rPr lang="nl-BE" sz="2600" dirty="0">
                <a:solidFill>
                  <a:schemeClr val="bg1"/>
                </a:solidFill>
              </a:rPr>
              <a:t>so that I can explore selling options without my neighbours or family knowing.</a:t>
            </a:r>
          </a:p>
          <a:p>
            <a:r>
              <a:rPr lang="nl-BE" sz="2600" dirty="0">
                <a:solidFill>
                  <a:schemeClr val="bg1"/>
                </a:solidFill>
              </a:rPr>
              <a:t>…I want to set my own asking price and property details</a:t>
            </a:r>
            <a:br>
              <a:rPr lang="nl-BE" sz="2600" dirty="0">
                <a:solidFill>
                  <a:schemeClr val="bg1"/>
                </a:solidFill>
              </a:rPr>
            </a:br>
            <a:r>
              <a:rPr lang="nl-BE" sz="2600" dirty="0">
                <a:solidFill>
                  <a:schemeClr val="bg1"/>
                </a:solidFill>
              </a:rPr>
              <a:t>so that developers have the information they need to evaluate my listing.</a:t>
            </a:r>
          </a:p>
          <a:p>
            <a:r>
              <a:rPr lang="nl-BE" sz="2600" dirty="0">
                <a:solidFill>
                  <a:schemeClr val="bg1"/>
                </a:solidFill>
              </a:rPr>
              <a:t>…I want to receive private messages from verified developers</a:t>
            </a:r>
            <a:br>
              <a:rPr lang="nl-BE" sz="2600" dirty="0">
                <a:solidFill>
                  <a:schemeClr val="bg1"/>
                </a:solidFill>
              </a:rPr>
            </a:br>
            <a:r>
              <a:rPr lang="nl-BE" sz="2600" dirty="0">
                <a:solidFill>
                  <a:schemeClr val="bg1"/>
                </a:solidFill>
              </a:rPr>
              <a:t>so that I can negotiate safely without sharing personal contact details.</a:t>
            </a:r>
          </a:p>
          <a:p>
            <a:r>
              <a:rPr lang="nl-BE" sz="2600" dirty="0">
                <a:solidFill>
                  <a:schemeClr val="bg1"/>
                </a:solidFill>
              </a:rPr>
              <a:t>…I want to edit or remove my listing at any moment</a:t>
            </a:r>
            <a:br>
              <a:rPr lang="nl-BE" sz="2600" dirty="0">
                <a:solidFill>
                  <a:schemeClr val="bg1"/>
                </a:solidFill>
              </a:rPr>
            </a:br>
            <a:r>
              <a:rPr lang="nl-BE" sz="2600" dirty="0">
                <a:solidFill>
                  <a:schemeClr val="bg1"/>
                </a:solidFill>
              </a:rPr>
              <a:t>so that I stay fully in control of my property information.</a:t>
            </a:r>
          </a:p>
          <a:p>
            <a:endParaRPr lang="nl-BE" dirty="0">
              <a:solidFill>
                <a:schemeClr val="bg1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08260570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EFA5ED5-23C7-62EF-63C1-7D5C091C90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81037"/>
            <a:ext cx="10515600" cy="1009651"/>
          </a:xfrm>
        </p:spPr>
        <p:txBody>
          <a:bodyPr/>
          <a:lstStyle/>
          <a:p>
            <a:r>
              <a:rPr lang="nl-BE" dirty="0">
                <a:solidFill>
                  <a:schemeClr val="bg1"/>
                </a:solidFill>
              </a:rPr>
              <a:t>MVP userstories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C998FB48-7D7D-322D-40D8-68B99A01A3A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nl-BE" dirty="0">
                <a:solidFill>
                  <a:schemeClr val="bg1"/>
                </a:solidFill>
              </a:rPr>
              <a:t>As a real estate developer,</a:t>
            </a:r>
          </a:p>
          <a:p>
            <a:pPr marL="285750" indent="-285750"/>
            <a:r>
              <a:rPr lang="nl-BE" sz="2600" dirty="0">
                <a:solidFill>
                  <a:schemeClr val="bg1"/>
                </a:solidFill>
              </a:rPr>
              <a:t>…I want to log in with a verified professional account</a:t>
            </a:r>
            <a:br>
              <a:rPr lang="nl-BE" sz="2600" dirty="0">
                <a:solidFill>
                  <a:schemeClr val="bg1"/>
                </a:solidFill>
              </a:rPr>
            </a:br>
            <a:r>
              <a:rPr lang="nl-BE" sz="2600" dirty="0">
                <a:solidFill>
                  <a:schemeClr val="bg1"/>
                </a:solidFill>
              </a:rPr>
              <a:t>so that I can access exclusive off-market land opportunities.</a:t>
            </a:r>
          </a:p>
          <a:p>
            <a:pPr marL="285750" indent="-285750"/>
            <a:r>
              <a:rPr lang="nl-BE" sz="2600" dirty="0">
                <a:solidFill>
                  <a:schemeClr val="bg1"/>
                </a:solidFill>
              </a:rPr>
              <a:t>…I want to browse a list of available off-market land plots</a:t>
            </a:r>
            <a:br>
              <a:rPr lang="nl-BE" sz="2600" dirty="0">
                <a:solidFill>
                  <a:schemeClr val="bg1"/>
                </a:solidFill>
              </a:rPr>
            </a:br>
            <a:r>
              <a:rPr lang="nl-BE" sz="2600" dirty="0">
                <a:solidFill>
                  <a:schemeClr val="bg1"/>
                </a:solidFill>
              </a:rPr>
              <a:t>so that I can quickly identify new development opportunities.</a:t>
            </a:r>
          </a:p>
          <a:p>
            <a:pPr marL="285750" indent="-285750"/>
            <a:r>
              <a:rPr lang="nl-BE" sz="2600" dirty="0">
                <a:solidFill>
                  <a:schemeClr val="bg1"/>
                </a:solidFill>
              </a:rPr>
              <a:t>…I want to filter listings by location, size, and asking price</a:t>
            </a:r>
            <a:br>
              <a:rPr lang="nl-BE" sz="2600" dirty="0">
                <a:solidFill>
                  <a:schemeClr val="bg1"/>
                </a:solidFill>
              </a:rPr>
            </a:br>
            <a:r>
              <a:rPr lang="nl-BE" sz="2600" dirty="0">
                <a:solidFill>
                  <a:schemeClr val="bg1"/>
                </a:solidFill>
              </a:rPr>
              <a:t>so that I can efficiently find plots that match my development criteria.</a:t>
            </a:r>
          </a:p>
          <a:p>
            <a:pPr marL="285750" indent="-285750"/>
            <a:r>
              <a:rPr lang="nl-BE" sz="2600" dirty="0">
                <a:solidFill>
                  <a:schemeClr val="bg1"/>
                </a:solidFill>
              </a:rPr>
              <a:t>…I want to contact landowners privately through the platform</a:t>
            </a:r>
            <a:br>
              <a:rPr lang="nl-BE" sz="2600" dirty="0">
                <a:solidFill>
                  <a:schemeClr val="bg1"/>
                </a:solidFill>
              </a:rPr>
            </a:br>
            <a:r>
              <a:rPr lang="nl-BE" sz="2600" dirty="0">
                <a:solidFill>
                  <a:schemeClr val="bg1"/>
                </a:solidFill>
              </a:rPr>
              <a:t>so that I can negotiate discreetly without intermediaries.</a:t>
            </a:r>
          </a:p>
          <a:p>
            <a:endParaRPr lang="nl-BE" dirty="0">
              <a:solidFill>
                <a:schemeClr val="bg1"/>
              </a:solidFill>
            </a:endParaRPr>
          </a:p>
        </p:txBody>
      </p:sp>
      <p:pic>
        <p:nvPicPr>
          <p:cNvPr id="4" name="Afbeelding 3">
            <a:extLst>
              <a:ext uri="{FF2B5EF4-FFF2-40B4-BE49-F238E27FC236}">
                <a16:creationId xmlns:a16="http://schemas.microsoft.com/office/drawing/2014/main" id="{D897410E-E23B-57F9-291D-9EB2B7ADC15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953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0210648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16F5FDE-07BC-C1CC-6CDA-39C85EA11F5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95324"/>
            <a:ext cx="10515600" cy="995364"/>
          </a:xfrm>
        </p:spPr>
        <p:txBody>
          <a:bodyPr/>
          <a:lstStyle/>
          <a:p>
            <a:r>
              <a:rPr lang="nl-BE" dirty="0">
                <a:solidFill>
                  <a:schemeClr val="bg1"/>
                </a:solidFill>
              </a:rPr>
              <a:t>MVP userstories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0E2DA545-30E0-6B5A-688E-C463B6BE530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nl-BE" dirty="0">
                <a:solidFill>
                  <a:schemeClr val="bg1"/>
                </a:solidFill>
              </a:rPr>
              <a:t>As a system admin,</a:t>
            </a:r>
          </a:p>
          <a:p>
            <a:r>
              <a:rPr lang="nl-BE" sz="2600" dirty="0">
                <a:solidFill>
                  <a:schemeClr val="bg1"/>
                </a:solidFill>
              </a:rPr>
              <a:t>…I want to verify developer accounts before granting access</a:t>
            </a:r>
            <a:br>
              <a:rPr lang="nl-BE" sz="2600" dirty="0">
                <a:solidFill>
                  <a:schemeClr val="bg1"/>
                </a:solidFill>
              </a:rPr>
            </a:br>
            <a:r>
              <a:rPr lang="nl-BE" sz="2600" dirty="0">
                <a:solidFill>
                  <a:schemeClr val="bg1"/>
                </a:solidFill>
              </a:rPr>
              <a:t>so that only legitimate professionals can view sensitive listings.</a:t>
            </a:r>
          </a:p>
          <a:p>
            <a:pPr marL="285750" indent="-285750"/>
            <a:r>
              <a:rPr lang="nl-BE" sz="2600" dirty="0">
                <a:solidFill>
                  <a:schemeClr val="bg1"/>
                </a:solidFill>
              </a:rPr>
              <a:t>…I want to monitor listing activity and messages</a:t>
            </a:r>
            <a:br>
              <a:rPr lang="nl-BE" sz="2600" dirty="0">
                <a:solidFill>
                  <a:schemeClr val="bg1"/>
                </a:solidFill>
              </a:rPr>
            </a:br>
            <a:r>
              <a:rPr lang="nl-BE" sz="2600" dirty="0">
                <a:solidFill>
                  <a:schemeClr val="bg1"/>
                </a:solidFill>
              </a:rPr>
              <a:t>so that I can ensure the platform remains secure and respectful for all users.</a:t>
            </a:r>
          </a:p>
          <a:p>
            <a:endParaRPr lang="nl-BE" dirty="0">
              <a:solidFill>
                <a:schemeClr val="bg1"/>
              </a:solidFill>
            </a:endParaRPr>
          </a:p>
        </p:txBody>
      </p:sp>
      <p:pic>
        <p:nvPicPr>
          <p:cNvPr id="4" name="Afbeelding 3">
            <a:extLst>
              <a:ext uri="{FF2B5EF4-FFF2-40B4-BE49-F238E27FC236}">
                <a16:creationId xmlns:a16="http://schemas.microsoft.com/office/drawing/2014/main" id="{EC9AD0A5-2B22-5B38-B756-30DFF9F3D57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953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561650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8291862-A93F-EF14-B85C-A834B45F8C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81037"/>
            <a:ext cx="10515600" cy="1009651"/>
          </a:xfrm>
        </p:spPr>
        <p:txBody>
          <a:bodyPr>
            <a:normAutofit/>
          </a:bodyPr>
          <a:lstStyle/>
          <a:p>
            <a:r>
              <a:rPr lang="nl-BE" dirty="0">
                <a:solidFill>
                  <a:schemeClr val="bg1"/>
                </a:solidFill>
              </a:rPr>
              <a:t>The website &amp; its functions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E5345093-5EEA-A8AA-3B9B-01563106603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10802570" cy="4351338"/>
          </a:xfrm>
        </p:spPr>
        <p:txBody>
          <a:bodyPr/>
          <a:lstStyle/>
          <a:p>
            <a:r>
              <a:rPr lang="nl-BE" dirty="0">
                <a:solidFill>
                  <a:schemeClr val="bg1"/>
                </a:solidFill>
              </a:rPr>
              <a:t>Property owners: Post properties, manage them, send private messages.</a:t>
            </a:r>
          </a:p>
          <a:p>
            <a:r>
              <a:rPr lang="nl-BE" dirty="0">
                <a:solidFill>
                  <a:schemeClr val="bg1"/>
                </a:solidFill>
              </a:rPr>
              <a:t>Developers: Verified login, list &amp; filters, discreet contact.</a:t>
            </a:r>
          </a:p>
          <a:p>
            <a:pPr marL="0" indent="0">
              <a:buNone/>
            </a:pPr>
            <a:endParaRPr lang="nl-BE" dirty="0">
              <a:solidFill>
                <a:schemeClr val="bg1"/>
              </a:solidFill>
            </a:endParaRPr>
          </a:p>
        </p:txBody>
      </p:sp>
      <p:pic>
        <p:nvPicPr>
          <p:cNvPr id="4" name="Afbeelding 3">
            <a:extLst>
              <a:ext uri="{FF2B5EF4-FFF2-40B4-BE49-F238E27FC236}">
                <a16:creationId xmlns:a16="http://schemas.microsoft.com/office/drawing/2014/main" id="{7D947B68-CCE0-8635-CEEC-560ED92C587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953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0621914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64D082BD-FF03-0A80-4C9F-09E05872DAC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81037"/>
            <a:ext cx="10515600" cy="1144588"/>
          </a:xfrm>
        </p:spPr>
        <p:txBody>
          <a:bodyPr>
            <a:normAutofit/>
          </a:bodyPr>
          <a:lstStyle/>
          <a:p>
            <a:r>
              <a:rPr lang="nl-BE" dirty="0">
                <a:solidFill>
                  <a:schemeClr val="bg1"/>
                </a:solidFill>
              </a:rPr>
              <a:t>The algorithm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A3B2BE59-4FB8-B558-267C-654DCC8FB95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r>
              <a:rPr lang="nl-BE" dirty="0">
                <a:solidFill>
                  <a:schemeClr val="bg1"/>
                </a:solidFill>
              </a:rPr>
              <a:t>Price estimation of plots based on previous data (type, surface area, location.)</a:t>
            </a:r>
          </a:p>
          <a:p>
            <a:r>
              <a:rPr lang="nl-BE" dirty="0">
                <a:solidFill>
                  <a:schemeClr val="bg1"/>
                </a:solidFill>
              </a:rPr>
              <a:t>Model learns from sold plots, continuously improves</a:t>
            </a:r>
          </a:p>
          <a:p>
            <a:r>
              <a:rPr lang="nl-BE" dirty="0">
                <a:solidFill>
                  <a:schemeClr val="bg1"/>
                </a:solidFill>
              </a:rPr>
              <a:t>Operation:</a:t>
            </a:r>
          </a:p>
          <a:p>
            <a:pPr marL="914400" lvl="1" indent="-457200">
              <a:buFont typeface="+mj-lt"/>
              <a:buAutoNum type="arabicPeriod"/>
            </a:pPr>
            <a:r>
              <a:rPr lang="nl-BE" altLang="nl-BE" dirty="0">
                <a:solidFill>
                  <a:schemeClr val="bg1"/>
                </a:solidFill>
              </a:rPr>
              <a:t>Identify similar plots:</a:t>
            </a:r>
            <a:br>
              <a:rPr lang="nl-BE" altLang="nl-BE" dirty="0">
                <a:solidFill>
                  <a:schemeClr val="bg1"/>
                </a:solidFill>
              </a:rPr>
            </a:br>
            <a:r>
              <a:rPr lang="nl-BE" altLang="nl-BE" dirty="0">
                <a:solidFill>
                  <a:schemeClr val="bg1"/>
                </a:solidFill>
              </a:rPr>
              <a:t>Finds previously sold plots with a similar type and size, and in the same or nearby location.</a:t>
            </a:r>
          </a:p>
          <a:p>
            <a:pPr marL="914400" lvl="1" indent="-457200">
              <a:buFont typeface="+mj-lt"/>
              <a:buAutoNum type="arabicPeriod"/>
            </a:pPr>
            <a:r>
              <a:rPr lang="nl-BE" altLang="nl-BE" dirty="0">
                <a:solidFill>
                  <a:schemeClr val="bg1"/>
                </a:solidFill>
              </a:rPr>
              <a:t>Select nearest neighbors:</a:t>
            </a:r>
            <a:br>
              <a:rPr lang="nl-BE" altLang="nl-BE" dirty="0">
                <a:solidFill>
                  <a:schemeClr val="bg1"/>
                </a:solidFill>
              </a:rPr>
            </a:br>
            <a:r>
              <a:rPr lang="nl-BE" altLang="nl-BE" dirty="0">
                <a:solidFill>
                  <a:schemeClr val="bg1"/>
                </a:solidFill>
              </a:rPr>
              <a:t>k-NN chooses the k most similar sold plots based on these features.</a:t>
            </a:r>
          </a:p>
          <a:p>
            <a:pPr marL="914400" lvl="1" indent="-457200">
              <a:buFont typeface="+mj-lt"/>
              <a:buAutoNum type="arabicPeriod"/>
            </a:pPr>
            <a:r>
              <a:rPr lang="nl-BE" altLang="nl-BE" dirty="0">
                <a:solidFill>
                  <a:schemeClr val="bg1"/>
                </a:solidFill>
              </a:rPr>
              <a:t>Predict price:</a:t>
            </a:r>
            <a:br>
              <a:rPr lang="nl-BE" altLang="nl-BE" dirty="0">
                <a:solidFill>
                  <a:schemeClr val="bg1"/>
                </a:solidFill>
              </a:rPr>
            </a:br>
            <a:r>
              <a:rPr lang="nl-BE" altLang="nl-BE" dirty="0">
                <a:solidFill>
                  <a:schemeClr val="bg1"/>
                </a:solidFill>
              </a:rPr>
              <a:t>The estimated price is calculated from the sale prices of these neighbors.</a:t>
            </a:r>
          </a:p>
          <a:p>
            <a:pPr marL="457200" lvl="1" indent="0">
              <a:buNone/>
            </a:pPr>
            <a:r>
              <a:rPr lang="nl-BE" altLang="nl-BE" dirty="0">
                <a:solidFill>
                  <a:schemeClr val="bg1"/>
                </a:solidFill>
              </a:rPr>
              <a:t>As new sales enter the dataset, predictions stay up-to-date.</a:t>
            </a:r>
          </a:p>
          <a:p>
            <a:pPr lvl="1">
              <a:buFont typeface="Courier New" panose="02070309020205020404" pitchFamily="49" charset="0"/>
              <a:buChar char="o"/>
            </a:pPr>
            <a:endParaRPr lang="nl-BE" dirty="0">
              <a:solidFill>
                <a:schemeClr val="bg1"/>
              </a:solidFill>
            </a:endParaRPr>
          </a:p>
          <a:p>
            <a:endParaRPr lang="nl-BE" dirty="0">
              <a:solidFill>
                <a:schemeClr val="bg1"/>
              </a:solidFill>
            </a:endParaRPr>
          </a:p>
          <a:p>
            <a:endParaRPr lang="nl-BE" dirty="0">
              <a:solidFill>
                <a:schemeClr val="bg1"/>
              </a:solidFill>
            </a:endParaRPr>
          </a:p>
          <a:p>
            <a:pPr marL="0" indent="0">
              <a:buNone/>
            </a:pPr>
            <a:endParaRPr lang="nl-BE" dirty="0"/>
          </a:p>
        </p:txBody>
      </p:sp>
      <p:pic>
        <p:nvPicPr>
          <p:cNvPr id="4" name="Afbeelding 3">
            <a:extLst>
              <a:ext uri="{FF2B5EF4-FFF2-40B4-BE49-F238E27FC236}">
                <a16:creationId xmlns:a16="http://schemas.microsoft.com/office/drawing/2014/main" id="{8B7712B2-32F3-327B-CA61-C1B854ED71CD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953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2031296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B6817D8-B09B-5696-ACE5-797FD3062AE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95324"/>
            <a:ext cx="10515600" cy="995364"/>
          </a:xfrm>
        </p:spPr>
        <p:txBody>
          <a:bodyPr/>
          <a:lstStyle/>
          <a:p>
            <a:r>
              <a:rPr lang="nl-BE" dirty="0">
                <a:solidFill>
                  <a:schemeClr val="bg1"/>
                </a:solidFill>
              </a:rPr>
              <a:t>DEMO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25CC1F78-153A-80D1-0DAB-63E9A9B8F3D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nl-BE" dirty="0">
                <a:solidFill>
                  <a:schemeClr val="bg1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https://www.youtube.com/watch?v=5l8xzvWOSDg</a:t>
            </a:r>
            <a:r>
              <a:rPr lang="nl-BE" dirty="0">
                <a:solidFill>
                  <a:schemeClr val="bg1"/>
                </a:solidFill>
              </a:rPr>
              <a:t> </a:t>
            </a:r>
          </a:p>
        </p:txBody>
      </p:sp>
      <p:pic>
        <p:nvPicPr>
          <p:cNvPr id="4" name="Afbeelding 3">
            <a:extLst>
              <a:ext uri="{FF2B5EF4-FFF2-40B4-BE49-F238E27FC236}">
                <a16:creationId xmlns:a16="http://schemas.microsoft.com/office/drawing/2014/main" id="{3796C83B-BF01-EA10-35C4-F7B4B5CFCDE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953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4833535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CC64D9D4-F4E7-346A-0419-B0DD248C14E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95324"/>
            <a:ext cx="10515600" cy="1325563"/>
          </a:xfrm>
        </p:spPr>
        <p:txBody>
          <a:bodyPr>
            <a:normAutofit/>
          </a:bodyPr>
          <a:lstStyle/>
          <a:p>
            <a:r>
              <a:rPr lang="nl-BE" dirty="0">
                <a:solidFill>
                  <a:schemeClr val="bg1"/>
                </a:solidFill>
              </a:rPr>
              <a:t>Best practices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2DCAECEC-3A6C-280D-1AE5-1B8D7CCF4C5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204829"/>
            <a:ext cx="10515600" cy="3972133"/>
          </a:xfrm>
        </p:spPr>
        <p:txBody>
          <a:bodyPr>
            <a:normAutofit/>
          </a:bodyPr>
          <a:lstStyle/>
          <a:p>
            <a:r>
              <a:rPr lang="nl-BE" dirty="0">
                <a:solidFill>
                  <a:schemeClr val="bg1"/>
                </a:solidFill>
              </a:rPr>
              <a:t>No duplication!</a:t>
            </a:r>
          </a:p>
          <a:p>
            <a:r>
              <a:rPr lang="nl-BE" dirty="0">
                <a:solidFill>
                  <a:schemeClr val="bg1"/>
                </a:solidFill>
              </a:rPr>
              <a:t>Images via buckets</a:t>
            </a:r>
          </a:p>
          <a:p>
            <a:r>
              <a:rPr lang="nl-BE" dirty="0">
                <a:solidFill>
                  <a:schemeClr val="bg1"/>
                </a:solidFill>
              </a:rPr>
              <a:t>Render: </a:t>
            </a:r>
            <a:r>
              <a:rPr lang="nl-BE" dirty="0">
                <a:solidFill>
                  <a:schemeClr val="bg1"/>
                </a:solidFill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https://group-24-4myd.onrender.com/</a:t>
            </a:r>
            <a:r>
              <a:rPr lang="nl-BE" dirty="0">
                <a:solidFill>
                  <a:schemeClr val="bg1"/>
                </a:solidFill>
              </a:rPr>
              <a:t> </a:t>
            </a:r>
          </a:p>
        </p:txBody>
      </p:sp>
      <p:pic>
        <p:nvPicPr>
          <p:cNvPr id="4" name="Afbeelding 3">
            <a:extLst>
              <a:ext uri="{FF2B5EF4-FFF2-40B4-BE49-F238E27FC236}">
                <a16:creationId xmlns:a16="http://schemas.microsoft.com/office/drawing/2014/main" id="{AB9189CB-939F-3366-E8A5-934D1989D54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953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3225955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BE36AF0-C8D3-5AC4-2489-97CBBB7587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95324"/>
            <a:ext cx="10515600" cy="995364"/>
          </a:xfrm>
        </p:spPr>
        <p:txBody>
          <a:bodyPr/>
          <a:lstStyle/>
          <a:p>
            <a:r>
              <a:rPr lang="nl-BE" dirty="0">
                <a:solidFill>
                  <a:schemeClr val="bg1"/>
                </a:solidFill>
              </a:rPr>
              <a:t>ERD Model</a:t>
            </a:r>
          </a:p>
        </p:txBody>
      </p:sp>
      <p:pic>
        <p:nvPicPr>
          <p:cNvPr id="5" name="Tijdelijke aanduiding voor inhoud 4">
            <a:extLst>
              <a:ext uri="{FF2B5EF4-FFF2-40B4-BE49-F238E27FC236}">
                <a16:creationId xmlns:a16="http://schemas.microsoft.com/office/drawing/2014/main" id="{D190C1DB-52A0-4849-32C5-27583CFB9E72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807960" y="695323"/>
            <a:ext cx="6384039" cy="6191686"/>
          </a:xfrm>
          <a:prstGeom prst="rect">
            <a:avLst/>
          </a:prstGeom>
        </p:spPr>
      </p:pic>
      <p:pic>
        <p:nvPicPr>
          <p:cNvPr id="4" name="Afbeelding 3">
            <a:extLst>
              <a:ext uri="{FF2B5EF4-FFF2-40B4-BE49-F238E27FC236}">
                <a16:creationId xmlns:a16="http://schemas.microsoft.com/office/drawing/2014/main" id="{75893CEE-1BD7-C709-835E-A81374BB7C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953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951554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6FFA027-037F-F1A2-8A06-4540FF3E6A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695324"/>
            <a:ext cx="10515600" cy="995364"/>
          </a:xfrm>
        </p:spPr>
        <p:txBody>
          <a:bodyPr/>
          <a:lstStyle/>
          <a:p>
            <a:r>
              <a:rPr lang="nl-BE" dirty="0">
                <a:solidFill>
                  <a:schemeClr val="bg1"/>
                </a:solidFill>
              </a:rPr>
              <a:t>Supabase</a:t>
            </a:r>
          </a:p>
        </p:txBody>
      </p:sp>
      <p:pic>
        <p:nvPicPr>
          <p:cNvPr id="6" name="Tijdelijke aanduiding voor inhoud 5">
            <a:extLst>
              <a:ext uri="{FF2B5EF4-FFF2-40B4-BE49-F238E27FC236}">
                <a16:creationId xmlns:a16="http://schemas.microsoft.com/office/drawing/2014/main" id="{B196EAF3-697F-764F-9718-5D449AE878D3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117201" y="695324"/>
            <a:ext cx="7074799" cy="6162676"/>
          </a:xfrm>
        </p:spPr>
      </p:pic>
      <p:pic>
        <p:nvPicPr>
          <p:cNvPr id="4" name="Afbeelding 3">
            <a:extLst>
              <a:ext uri="{FF2B5EF4-FFF2-40B4-BE49-F238E27FC236}">
                <a16:creationId xmlns:a16="http://schemas.microsoft.com/office/drawing/2014/main" id="{2BBB302E-FE31-F037-A34F-463549B2BE8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2000" cy="6953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365071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A01A7AC-4DCE-7F64-CA10-BB03A95383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8658" y="695324"/>
            <a:ext cx="10515600" cy="1325563"/>
          </a:xfrm>
        </p:spPr>
        <p:txBody>
          <a:bodyPr/>
          <a:lstStyle/>
          <a:p>
            <a:r>
              <a:rPr lang="nl-BE" dirty="0">
                <a:solidFill>
                  <a:schemeClr val="bg1"/>
                </a:solidFill>
              </a:rPr>
              <a:t>Q&amp;A</a:t>
            </a:r>
          </a:p>
        </p:txBody>
      </p:sp>
      <p:sp>
        <p:nvSpPr>
          <p:cNvPr id="3" name="Tijdelijke aanduiding voor inhoud 2">
            <a:extLst>
              <a:ext uri="{FF2B5EF4-FFF2-40B4-BE49-F238E27FC236}">
                <a16:creationId xmlns:a16="http://schemas.microsoft.com/office/drawing/2014/main" id="{BE2E309C-6CC7-18DC-5D50-EE46C236CA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132819"/>
            <a:ext cx="10515600" cy="4044143"/>
          </a:xfrm>
        </p:spPr>
        <p:txBody>
          <a:bodyPr/>
          <a:lstStyle/>
          <a:p>
            <a:endParaRPr lang="nl-BE" dirty="0">
              <a:solidFill>
                <a:schemeClr val="bg1"/>
              </a:solidFill>
            </a:endParaRPr>
          </a:p>
        </p:txBody>
      </p:sp>
      <p:pic>
        <p:nvPicPr>
          <p:cNvPr id="4" name="Afbeelding 3">
            <a:extLst>
              <a:ext uri="{FF2B5EF4-FFF2-40B4-BE49-F238E27FC236}">
                <a16:creationId xmlns:a16="http://schemas.microsoft.com/office/drawing/2014/main" id="{D99EEC98-A0AD-0FF4-71BA-B81129837D9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0"/>
            <a:ext cx="12192000" cy="69532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37872006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2013 - 2022 Thema">
  <a:themeElements>
    <a:clrScheme name="Office 2013 - 2022 Thema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2013 - 2022 Thema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2013 - 2022 Thema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2013 - 2022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Kantoorthema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404</TotalTime>
  <Words>585</Words>
  <Application>Microsoft Macintosh PowerPoint</Application>
  <PresentationFormat>Breedbeeld</PresentationFormat>
  <Paragraphs>60</Paragraphs>
  <Slides>15</Slides>
  <Notes>1</Notes>
  <HiddenSlides>0</HiddenSlides>
  <MMClips>0</MMClips>
  <ScaleCrop>false</ScaleCrop>
  <HeadingPairs>
    <vt:vector size="6" baseType="variant">
      <vt:variant>
        <vt:lpstr>Gebruikte lettertypen</vt:lpstr>
      </vt:variant>
      <vt:variant>
        <vt:i4>6</vt:i4>
      </vt:variant>
      <vt:variant>
        <vt:lpstr>Thema</vt:lpstr>
      </vt:variant>
      <vt:variant>
        <vt:i4>1</vt:i4>
      </vt:variant>
      <vt:variant>
        <vt:lpstr>Diatitels</vt:lpstr>
      </vt:variant>
      <vt:variant>
        <vt:i4>15</vt:i4>
      </vt:variant>
    </vt:vector>
  </HeadingPairs>
  <TitlesOfParts>
    <vt:vector size="22" baseType="lpstr">
      <vt:lpstr>Aptos</vt:lpstr>
      <vt:lpstr>Arial</vt:lpstr>
      <vt:lpstr>Calibri</vt:lpstr>
      <vt:lpstr>Calibri Light</vt:lpstr>
      <vt:lpstr>Courier New</vt:lpstr>
      <vt:lpstr>Wingdings</vt:lpstr>
      <vt:lpstr>Office 2013 - 2022 Thema</vt:lpstr>
      <vt:lpstr>Oral defence</vt:lpstr>
      <vt:lpstr>Team</vt:lpstr>
      <vt:lpstr>Problem</vt:lpstr>
      <vt:lpstr>Opportunity</vt:lpstr>
      <vt:lpstr>The solution: GroundLink</vt:lpstr>
      <vt:lpstr>MVP userstories</vt:lpstr>
      <vt:lpstr>MVP userstories</vt:lpstr>
      <vt:lpstr>MVP userstories</vt:lpstr>
      <vt:lpstr>The website &amp; its functions</vt:lpstr>
      <vt:lpstr>The algorithm</vt:lpstr>
      <vt:lpstr>DEMO</vt:lpstr>
      <vt:lpstr>Best practices</vt:lpstr>
      <vt:lpstr>ERD Model</vt:lpstr>
      <vt:lpstr>Supabase</vt:lpstr>
      <vt:lpstr>Q&amp;A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Amber Verschelden</dc:creator>
  <cp:lastModifiedBy>Amber Verschelden</cp:lastModifiedBy>
  <cp:revision>19</cp:revision>
  <dcterms:created xsi:type="dcterms:W3CDTF">2025-12-09T09:35:56Z</dcterms:created>
  <dcterms:modified xsi:type="dcterms:W3CDTF">2025-12-13T10:23:15Z</dcterms:modified>
</cp:coreProperties>
</file>